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 Imagine having something important to say, but the person beside you cannot receive it in the way you express it. A simple hello should not depend on sight, hearing, or steady hands. We are [team names], and this is Project Ability: different ways to communicate, one connection. Replace the editable team line before recording.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Our idea connects personal interfaces through one shared hub. The glove turns selected hand gestures into messages. The Braille unit lets a user enter characters and feel received text. Our proposed third module adds a gaze keyboard and brain or eye-based wheelchair commands. The common language inside the system is text. The avatar, full return path and mobility extension still need integration; this is the ecosystem direction, not a claim that every route is deployed.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Our platform vision is an AI/ML-based processing hub built on Raspberry Pi 5, using our own task-specific recognition model and an accessible chat interface. It brings model inference, message routing, receiver selection and format conversion into one place. The present repository implements routing and Braille encoding; custom model inference, chat history, avatar and speech remain integration milestones. Today the glove classifier runs on its ESP32. This diagram presents the intended architecture, not a claim that all these features are deployed.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Five flex sensors measure finger bend, and a BNO055 measures orientation. The ESP32-S3 calibrates the values, applies gesture rules and builds text. A send gesture publishes the message to the Raspberry Pi. This is a limited gesture and fingerspelling prototype, not full sign-language translation. Our next recognition step is a custom-trained sensor-and-vision model. A signing avatar is also part of the planned receive interface, but its renderer and clips are absent from this checkout.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The latest Braille firmware has four six-dot cells with eight MG90S servos: two servos per cell. Cam mechanisms convert servo position into dot patterns. Six dot buttons accumulate a character, and the action button commits, spaces or displays the buffer. Show the actual button sequence during the demo. In the current cloud firmware, triple-click sends the buffer to its own display, not back through MQTT. Sending that reply to the glove or avatar remains an integration step. The letters shown here are the correct six-dot patterns for HELP; physical correctness still needs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 We are targeting practical moments: a classroom partner sharing a short message, a family communicating across different access needs, and eventually a person with motor limitations composing a request with their eyes. These are intended use scenarios. The benefits we want to measure are successful conversations, fewer access barriers and easier interaction. People have different abilities and preferences, so the appropriate interface must be selected with each user.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seconds, then 2 minutes 45 seconds LIVE HARDWARE, NO SLIDES] Say: Now let us follow one message through the real hardware. End screen sharing or press B to black out the browser. Follow DEMO_SCRIPT.md: show boards/power, glove input, hub receipt and four tactile cells; then show Braille button entry and local output. Use a text injection only as an explicitly labeled transport test. Do not represent keyboard-to-avatar or wheelchair animation as working hardware. After the demonstration return directly to slide 08. This is a handoff, not a slide substituting for the demo.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All amounts are in Bangladeshi taka. You supplied a glove estimate of 4,000 to 5,000 taka; we use 4,500 as the working midpoint. The other amounts are design-to-cost targets, not receipts: Braille 3,500, voice 1,500, gaze 3,500 and shared Pi hub 15,000. The core glove, Braille and hub target is 23,000. Adding voice and gaze brings the communication-system target to 28,000, or 30,800 with a ten-percent reserve. The lower hub target assumes a lower-memory or reused Pi 5 and an existing screen; model performance needs benchmarking. The optional wheelchair controller target of 12,000 excludes EEG acquisition and the powered chair. It is not the cost of a full brain-controlled wheelchair. No tax, shipping, labor or clinical validation cost is included.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The price barrier is substantial. At the rounded presentation conversion of 123 taka per US dollar, Rokoko Smartgloves II cost about 2.45 lakh taka for a professional motion-capture pair. Our single gesture-glove estimate is 4,000 to 5,000 taka. HumanWare Brailliant BI 40X is about 4.62 lakh taka for a commercial 40-cell reader, while our four-cell prototype target is 3,500 taka. These are selected premium references, not the entire market or equivalent-performance comparisons. The product pages opened today show 1,995 and 3,759 US dollars respectively; an older search snippet showed a HumanWare sale price that the current page did not. Lower-cost commercial options also exist: Orbit Reader 20 is about 98,300 taka. Ability costs exclude a personal allocation of the shared hub, production support, tax and shipping. The affordability strategy is focused functions, shared processing and locally assembled parts.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This is our proposed brain-and-eye wheelchair module, shown only as a concept. It targets people who need an alternative to hand controls, including some people with Parkinson’s after individual assessment. A multichannel EEG interface would classify a small set of trained intentions; a camera-based gaze interface offers another way to choose directions. In communication mode, the chair is stopped and a gaze keyboard sends text through the same Raspberry Pi to Braille, text, and eventually avatar or speech. A separate local controller must enforce an emergency stop, obstacle stop, command timeout and speed limit. It should never depend on cloud connectivity for stopping. Gaze calibration and real EEG classification remain research work. This is neither a medical claim nor demonstrated wheelchair hardware.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This is the chat-interface design for our own AI/ML-based hub. The intended workflow combines recognition with receiver selection and accessible delivery. A glove or gaze user composes a message; the hub sends it as Braille, on-screen text or, after integration, avatar or speech. We plan contacts, conversation history, quick requests and device status in one interface. The bubbles shown here are an illustrative conversation, not live device output. Our next engineering milestones are training the custom model, integrating the chat interface and measuring accuracy, false activations and end-to-end delay on unseen users.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seconds] Project Ability brings sensing, embedded control and message routing into one modular design. The current code gives us gesture input, a tactile display, button entry and a hub-routing foundation. Our next challenge is to validate the experience and complete the return paths. The goal is simple: different abilities, shared possibilities.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All amounts are Bangladeshi taka cost targets. The glove total of 4,500 follows the owner’s 4,000–5,000 estimate; its line items are allocations, not actual receipts. Braille totals 3,500; Pi hub 15,000. The proposed lower hub target uses a lower-memory or reused Pi 5, not a newly purchased 8GB kit. Economy sourcing and model-inference performance must be checked. Core total is 23,000. Voice adds 1,500 and gaze adds 3,500, yielding 28,000, or 30,800 with 10 percent reserve. Optional wheelchair interface adds 12,000 before EEG, electrodes, powered chair/motors/brakes/battery and testing. The full wheelchair cost is not established. All component rows, including optional modules, are in budget.csv.</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judge questions. Static source inspection is not physical validation. See PROJECT_ANALYSIS.md for file-specific findings and limitations. Avoid first-ever, perfect accuracy, full sign-language translation, end-to-end encrypted or all routes implemented claims. Orbit Chat and prior EEG/EOG wheelchair papers establish overlap with broad first-ever statements. The compelling contribution is this particular affordable modular integration, to be validated.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sources checked September 30, 2026. Click the source titles in the browser, PDF or PowerPoint. The deck is based on static review of this checkout and the user’s requested vision; no hardware was tested and no clinical or accuracy outcomes are claimed. Longer source notes and price assumptions are in SOURCES.md.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tore.rokoko.com/products/smartgloves-ii" TargetMode="External"/><Relationship Id="rId3" Type="http://schemas.openxmlformats.org/officeDocument/2006/relationships/hyperlink" Target="https://store.humanware.com/hus/brailliant-bi-40x-braille-display.html" TargetMode="External"/><Relationship Id="rId4" Type="http://schemas.openxmlformats.org/officeDocument/2006/relationships/hyperlink" Target="https://www.bb.org.bd/en/" TargetMode="External"/><Relationship Id="rId5" Type="http://schemas.openxmlformats.org/officeDocument/2006/relationships/hyperlink" Target="https://www.orbitresearch.com/products/blindness-products/braille-devices/orbit-reader-20/" TargetMode="External"/><Relationship Id="rId6" Type="http://schemas.openxmlformats.org/officeDocument/2006/relationships/hyperlink" Target="https://shop.openbci.com/products/cyton-biosensing-board-8-channel" TargetMode="External"/><Relationship Id="rId7" Type="http://schemas.openxmlformats.org/officeDocument/2006/relationships/hyperlink" Target="https://pmc.ncbi.nlm.nih.gov/articles/PMC4155067/" TargetMode="External"/><Relationship Id="rId8" Type="http://schemas.openxmlformats.org/officeDocument/2006/relationships/hyperlink" Target="https://www.parkinson.org/understanding-parkinsons/non-movement-symptoms/vision" TargetMode="External"/><Relationship Id="rId9"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B6C6CF"/>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B6C6CF"/>
                </a:solidFill>
                <a:latin typeface="Arial"/>
              </a:rPr>
              <a:t>01 / THE REASON</a:t>
            </a:r>
          </a:p>
        </p:txBody>
      </p:sp>
      <p:cxnSp>
        <p:nvCxnSpPr>
          <p:cNvPr id="4" name="Connector 3"/>
          <p:cNvCxnSpPr/>
          <p:nvPr/>
        </p:nvCxnSpPr>
        <p:spPr>
          <a:xfrm>
            <a:off x="694944" y="7443216"/>
            <a:ext cx="13240512" cy="0"/>
          </a:xfrm>
          <a:prstGeom prst="line">
            <a:avLst/>
          </a:prstGeom>
          <a:ln w="9144">
            <a:solidFill>
              <a:srgbClr val="3446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B6C6CF"/>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B6C6CF"/>
                </a:solidFill>
                <a:latin typeface="Arial"/>
              </a:rPr>
              <a:t>01</a:t>
            </a:r>
          </a:p>
        </p:txBody>
      </p:sp>
      <p:sp>
        <p:nvSpPr>
          <p:cNvPr id="7" name="TextBox 6"/>
          <p:cNvSpPr txBox="1"/>
          <p:nvPr/>
        </p:nvSpPr>
        <p:spPr>
          <a:xfrm>
            <a:off x="713232" y="1271016"/>
            <a:ext cx="8046720" cy="475488"/>
          </a:xfrm>
          <a:prstGeom prst="rect">
            <a:avLst/>
          </a:prstGeom>
          <a:noFill/>
        </p:spPr>
        <p:txBody>
          <a:bodyPr wrap="square" lIns="0" rIns="0" tIns="0" bIns="0">
            <a:spAutoFit/>
          </a:bodyPr>
          <a:lstStyle/>
          <a:p>
            <a:pPr algn="l">
              <a:lnSpc>
                <a:spcPct val="112000"/>
              </a:lnSpc>
              <a:spcBef>
                <a:spcPts val="0"/>
              </a:spcBef>
              <a:spcAft>
                <a:spcPts val="0"/>
              </a:spcAft>
            </a:pPr>
            <a:r>
              <a:rPr sz="2232" b="1">
                <a:solidFill>
                  <a:srgbClr val="77E1CB"/>
                </a:solidFill>
                <a:latin typeface="Arial"/>
              </a:rPr>
              <a:t>PROJECT ABILITY</a:t>
            </a:r>
          </a:p>
        </p:txBody>
      </p:sp>
      <p:sp>
        <p:nvSpPr>
          <p:cNvPr id="8" name="TextBox 7"/>
          <p:cNvSpPr txBox="1"/>
          <p:nvPr/>
        </p:nvSpPr>
        <p:spPr>
          <a:xfrm>
            <a:off x="694944" y="2011680"/>
            <a:ext cx="8595360" cy="2487168"/>
          </a:xfrm>
          <a:prstGeom prst="rect">
            <a:avLst/>
          </a:prstGeom>
          <a:noFill/>
        </p:spPr>
        <p:txBody>
          <a:bodyPr wrap="square" lIns="0" rIns="0" tIns="0" bIns="0">
            <a:spAutoFit/>
          </a:bodyPr>
          <a:lstStyle/>
          <a:p>
            <a:pPr algn="l">
              <a:lnSpc>
                <a:spcPct val="112000"/>
              </a:lnSpc>
              <a:spcBef>
                <a:spcPts val="0"/>
              </a:spcBef>
              <a:spcAft>
                <a:spcPts val="0"/>
              </a:spcAft>
            </a:pPr>
            <a:r>
              <a:rPr sz="5976" b="1">
                <a:solidFill>
                  <a:srgbClr val="FFFFFF"/>
                </a:solidFill>
                <a:latin typeface="Arial"/>
              </a:rPr>
              <a:t>A thought. A feeling.</a:t>
            </a:r>
          </a:p>
          <a:p>
            <a:pPr algn="l">
              <a:lnSpc>
                <a:spcPct val="112000"/>
              </a:lnSpc>
              <a:spcBef>
                <a:spcPts val="0"/>
              </a:spcBef>
              <a:spcAft>
                <a:spcPts val="0"/>
              </a:spcAft>
            </a:pPr>
            <a:r>
              <a:rPr sz="5976" b="1">
                <a:solidFill>
                  <a:srgbClr val="FFFFFF"/>
                </a:solidFill>
                <a:latin typeface="Arial"/>
              </a:rPr>
              <a:t>A simple “hello.”</a:t>
            </a:r>
          </a:p>
        </p:txBody>
      </p:sp>
      <p:sp>
        <p:nvSpPr>
          <p:cNvPr id="9" name="TextBox 8"/>
          <p:cNvSpPr txBox="1"/>
          <p:nvPr/>
        </p:nvSpPr>
        <p:spPr>
          <a:xfrm>
            <a:off x="731520" y="4937760"/>
            <a:ext cx="7040880" cy="1060704"/>
          </a:xfrm>
          <a:prstGeom prst="rect">
            <a:avLst/>
          </a:prstGeom>
          <a:noFill/>
        </p:spPr>
        <p:txBody>
          <a:bodyPr wrap="square" lIns="0" rIns="0" tIns="0" bIns="0">
            <a:spAutoFit/>
          </a:bodyPr>
          <a:lstStyle/>
          <a:p>
            <a:pPr algn="l">
              <a:lnSpc>
                <a:spcPct val="112000"/>
              </a:lnSpc>
              <a:spcBef>
                <a:spcPts val="0"/>
              </a:spcBef>
              <a:spcAft>
                <a:spcPts val="0"/>
              </a:spcAft>
            </a:pPr>
            <a:r>
              <a:rPr sz="3095" b="0">
                <a:solidFill>
                  <a:srgbClr val="B6C6CF"/>
                </a:solidFill>
                <a:latin typeface="Arial"/>
              </a:rPr>
              <a:t>Everyone deserves a way</a:t>
            </a:r>
          </a:p>
          <a:p>
            <a:pPr algn="l">
              <a:lnSpc>
                <a:spcPct val="112000"/>
              </a:lnSpc>
              <a:spcBef>
                <a:spcPts val="0"/>
              </a:spcBef>
              <a:spcAft>
                <a:spcPts val="0"/>
              </a:spcAft>
            </a:pPr>
            <a:r>
              <a:rPr sz="3095" b="0">
                <a:solidFill>
                  <a:srgbClr val="B6C6CF"/>
                </a:solidFill>
                <a:latin typeface="Arial"/>
              </a:rPr>
              <a:t>to share it.</a:t>
            </a:r>
          </a:p>
        </p:txBody>
      </p:sp>
      <p:sp>
        <p:nvSpPr>
          <p:cNvPr id="10" name="TextBox 9"/>
          <p:cNvSpPr txBox="1"/>
          <p:nvPr/>
        </p:nvSpPr>
        <p:spPr>
          <a:xfrm>
            <a:off x="731520" y="6793992"/>
            <a:ext cx="12618720" cy="310896"/>
          </a:xfrm>
          <a:prstGeom prst="rect">
            <a:avLst/>
          </a:prstGeom>
          <a:noFill/>
        </p:spPr>
        <p:txBody>
          <a:bodyPr wrap="square" lIns="0" rIns="0" tIns="0" bIns="0">
            <a:spAutoFit/>
          </a:bodyPr>
          <a:lstStyle/>
          <a:p>
            <a:pPr algn="l">
              <a:lnSpc>
                <a:spcPct val="112000"/>
              </a:lnSpc>
              <a:spcBef>
                <a:spcPts val="0"/>
              </a:spcBef>
              <a:spcAft>
                <a:spcPts val="0"/>
              </a:spcAft>
            </a:pPr>
            <a:r>
              <a:rPr sz="1512" b="0">
                <a:solidFill>
                  <a:srgbClr val="B6C6CF"/>
                </a:solidFill>
                <a:latin typeface="Arial"/>
              </a:rPr>
              <a:t>Team: [names / IDs]  ·  [department / institution]</a:t>
            </a:r>
          </a:p>
        </p:txBody>
      </p:sp>
      <p:sp>
        <p:nvSpPr>
          <p:cNvPr id="11" name="Oval 10"/>
          <p:cNvSpPr/>
          <p:nvPr/>
        </p:nvSpPr>
        <p:spPr>
          <a:xfrm>
            <a:off x="9966960" y="1453896"/>
            <a:ext cx="3337560" cy="3337560"/>
          </a:xfrm>
          <a:prstGeom prst="ellipse">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988905" y="2514600"/>
            <a:ext cx="543153" cy="543153"/>
          </a:xfrm>
          <a:prstGeom prst="ellipse">
            <a:avLst/>
          </a:prstGeom>
          <a:solidFill>
            <a:srgbClr val="FFB1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857232" y="3172968"/>
            <a:ext cx="781812" cy="1069848"/>
          </a:xfrm>
          <a:prstGeom prst="roundRect">
            <a:avLst>
              <a:gd name="adj" fmla="val 42105"/>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H="1">
            <a:off x="9840772" y="4193438"/>
            <a:ext cx="148133" cy="757123"/>
          </a:xfrm>
          <a:prstGeom prst="line">
            <a:avLst/>
          </a:prstGeom>
          <a:ln w="106984">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07370" y="4193438"/>
            <a:ext cx="181051" cy="757123"/>
          </a:xfrm>
          <a:prstGeom prst="line">
            <a:avLst/>
          </a:prstGeom>
          <a:ln w="106984">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9560966" y="3419856"/>
            <a:ext cx="362102" cy="411480"/>
          </a:xfrm>
          <a:prstGeom prst="line">
            <a:avLst/>
          </a:prstGeom>
          <a:ln w="131673">
            <a:solidFill>
              <a:srgbClr val="FFB17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573207" y="3115360"/>
            <a:ext cx="370332" cy="304496"/>
          </a:xfrm>
          <a:prstGeom prst="line">
            <a:avLst/>
          </a:prstGeom>
          <a:ln w="131673">
            <a:solidFill>
              <a:srgbClr val="FFB17B"/>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2258446" y="3310128"/>
            <a:ext cx="512978" cy="512978"/>
          </a:xfrm>
          <a:prstGeom prst="ellipse">
            <a:avLst/>
          </a:prstGeom>
          <a:solidFill>
            <a:srgbClr val="FFB1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2134088" y="3931920"/>
            <a:ext cx="738378" cy="1010412"/>
          </a:xfrm>
          <a:prstGeom prst="roundRect">
            <a:avLst>
              <a:gd name="adj" fmla="val 44582"/>
            </a:avLst>
          </a:prstGeom>
          <a:solidFill>
            <a:srgbClr val="C9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2398349" y="4864608"/>
            <a:ext cx="575158" cy="124358"/>
          </a:xfrm>
          <a:prstGeom prst="line">
            <a:avLst/>
          </a:prstGeom>
          <a:ln w="116586">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2973507" y="4988966"/>
            <a:ext cx="132131" cy="411937"/>
          </a:xfrm>
          <a:prstGeom prst="line">
            <a:avLst/>
          </a:prstGeom>
          <a:ln w="116586">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105638" y="5400903"/>
            <a:ext cx="170992" cy="0"/>
          </a:xfrm>
          <a:prstGeom prst="line">
            <a:avLst/>
          </a:prstGeom>
          <a:ln w="93268">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1854281" y="4165091"/>
            <a:ext cx="341986" cy="388621"/>
          </a:xfrm>
          <a:prstGeom prst="line">
            <a:avLst/>
          </a:prstGeom>
          <a:ln w="124358">
            <a:solidFill>
              <a:srgbClr val="FFB17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2810286" y="3877513"/>
            <a:ext cx="349758" cy="287578"/>
          </a:xfrm>
          <a:prstGeom prst="line">
            <a:avLst/>
          </a:prstGeom>
          <a:ln w="124358">
            <a:solidFill>
              <a:srgbClr val="FFB17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1807647" y="4662525"/>
            <a:ext cx="1025956" cy="1025956"/>
          </a:xfrm>
          <a:prstGeom prst="ellipse">
            <a:avLst/>
          </a:prstGeom>
          <a:noFill/>
          <a:ln w="69951">
            <a:solidFill>
              <a:srgbClr val="C9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2996824" y="5393131"/>
            <a:ext cx="264261" cy="264261"/>
          </a:xfrm>
          <a:prstGeom prst="ellipse">
            <a:avLst/>
          </a:prstGeom>
          <a:noFill/>
          <a:ln w="46634">
            <a:solidFill>
              <a:srgbClr val="C9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2320625" y="5113324"/>
            <a:ext cx="746151" cy="0"/>
          </a:xfrm>
          <a:prstGeom prst="line">
            <a:avLst/>
          </a:prstGeom>
          <a:ln w="54406">
            <a:solidFill>
              <a:srgbClr val="C9B9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066776" y="5113324"/>
            <a:ext cx="54406" cy="396393"/>
          </a:xfrm>
          <a:prstGeom prst="line">
            <a:avLst/>
          </a:prstGeom>
          <a:ln w="54406">
            <a:solidFill>
              <a:srgbClr val="C9B9FF"/>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509760" y="1344168"/>
            <a:ext cx="2569464" cy="777240"/>
          </a:xfrm>
          <a:prstGeom prst="roundRect">
            <a:avLst>
              <a:gd name="adj" fmla="val 29411"/>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74352" y="1517904"/>
            <a:ext cx="2194560" cy="411480"/>
          </a:xfrm>
          <a:prstGeom prst="rect">
            <a:avLst/>
          </a:prstGeom>
          <a:noFill/>
        </p:spPr>
        <p:txBody>
          <a:bodyPr wrap="square" lIns="0" rIns="0" tIns="0" bIns="0">
            <a:spAutoFit/>
          </a:bodyPr>
          <a:lstStyle/>
          <a:p>
            <a:pPr algn="ctr">
              <a:lnSpc>
                <a:spcPct val="112000"/>
              </a:lnSpc>
              <a:spcBef>
                <a:spcPts val="0"/>
              </a:spcBef>
              <a:spcAft>
                <a:spcPts val="0"/>
              </a:spcAft>
            </a:pPr>
            <a:r>
              <a:rPr sz="2879" b="1">
                <a:solidFill>
                  <a:srgbClr val="152C3B"/>
                </a:solidFill>
                <a:latin typeface="Arial"/>
              </a:rPr>
              <a:t>hello.</a:t>
            </a:r>
          </a:p>
        </p:txBody>
      </p:sp>
      <p:sp>
        <p:nvSpPr>
          <p:cNvPr id="31" name="Rounded Rectangle 30"/>
          <p:cNvSpPr/>
          <p:nvPr/>
        </p:nvSpPr>
        <p:spPr>
          <a:xfrm>
            <a:off x="11247120" y="5943600"/>
            <a:ext cx="2240280" cy="822960"/>
          </a:xfrm>
          <a:prstGeom prst="roundRect">
            <a:avLst>
              <a:gd name="adj" fmla="val 22222"/>
            </a:avLst>
          </a:prstGeom>
          <a:solidFill>
            <a:srgbClr val="1B2D3C"/>
          </a:solidFill>
          <a:ln w="18288">
            <a:solidFill>
              <a:srgbClr val="385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448288" y="6053328"/>
            <a:ext cx="109728" cy="10972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448288" y="6239865"/>
            <a:ext cx="109728" cy="10972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448288" y="6426403"/>
            <a:ext cx="109728" cy="109728"/>
          </a:xfrm>
          <a:prstGeom prst="ellipse">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634825" y="6053328"/>
            <a:ext cx="109728" cy="109728"/>
          </a:xfrm>
          <a:prstGeom prst="ellipse">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634825" y="6239865"/>
            <a:ext cx="109728" cy="10972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634825" y="6426403"/>
            <a:ext cx="109728" cy="109728"/>
          </a:xfrm>
          <a:prstGeom prst="ellipse">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978640" y="6053328"/>
            <a:ext cx="109728" cy="109728"/>
          </a:xfrm>
          <a:prstGeom prst="ellipse">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978640" y="6239865"/>
            <a:ext cx="109728" cy="10972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978640" y="6426403"/>
            <a:ext cx="109728" cy="109728"/>
          </a:xfrm>
          <a:prstGeom prst="ellipse">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2165177" y="6053328"/>
            <a:ext cx="109728" cy="10972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2165177" y="6239865"/>
            <a:ext cx="109728" cy="109728"/>
          </a:xfrm>
          <a:prstGeom prst="ellipse">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2165177" y="6426403"/>
            <a:ext cx="109728" cy="109728"/>
          </a:xfrm>
          <a:prstGeom prst="ellipse">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527280" y="6172200"/>
            <a:ext cx="822960" cy="347472"/>
          </a:xfrm>
          <a:prstGeom prst="rect">
            <a:avLst/>
          </a:prstGeom>
          <a:noFill/>
        </p:spPr>
        <p:txBody>
          <a:bodyPr wrap="square" lIns="0" rIns="0" tIns="0" bIns="0">
            <a:spAutoFit/>
          </a:bodyPr>
          <a:lstStyle/>
          <a:p>
            <a:pPr algn="l">
              <a:lnSpc>
                <a:spcPct val="112000"/>
              </a:lnSpc>
              <a:spcBef>
                <a:spcPts val="0"/>
              </a:spcBef>
              <a:spcAft>
                <a:spcPts val="0"/>
              </a:spcAft>
            </a:pPr>
            <a:r>
              <a:rPr sz="2232" b="0">
                <a:solidFill>
                  <a:srgbClr val="77E1CB"/>
                </a:solidFill>
                <a:latin typeface="Arial"/>
              </a:rPr>
              <a:t>hi</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526775"/>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526775"/>
                </a:solidFill>
                <a:latin typeface="Arial"/>
              </a:rPr>
              <a:t>02 / THE IDEA</a:t>
            </a:r>
          </a:p>
        </p:txBody>
      </p:sp>
      <p:cxnSp>
        <p:nvCxnSpPr>
          <p:cNvPr id="4" name="Connector 3"/>
          <p:cNvCxnSpPr/>
          <p:nvPr/>
        </p:nvCxnSpPr>
        <p:spPr>
          <a:xfrm>
            <a:off x="694944" y="7443216"/>
            <a:ext cx="13240512" cy="0"/>
          </a:xfrm>
          <a:prstGeom prst="line">
            <a:avLst/>
          </a:prstGeom>
          <a:ln w="9144">
            <a:solidFill>
              <a:srgbClr val="D7DD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26775"/>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26775"/>
                </a:solidFill>
                <a:latin typeface="Arial"/>
              </a:rPr>
              <a:t>02</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526775"/>
                </a:solidFill>
                <a:latin typeface="Arial"/>
              </a:rPr>
              <a:t>THE PROBLEM → OUR IDEA</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152C3B"/>
                </a:solidFill>
                <a:latin typeface="Arial"/>
              </a:rPr>
              <a:t>Three interfaces.</a:t>
            </a:r>
          </a:p>
          <a:p>
            <a:pPr algn="l">
              <a:lnSpc>
                <a:spcPct val="112000"/>
              </a:lnSpc>
              <a:spcBef>
                <a:spcPts val="0"/>
              </a:spcBef>
              <a:spcAft>
                <a:spcPts val="0"/>
              </a:spcAft>
            </a:pPr>
            <a:r>
              <a:rPr sz="4608" b="1">
                <a:solidFill>
                  <a:srgbClr val="152C3B"/>
                </a:solidFill>
                <a:latin typeface="Arial"/>
              </a:rPr>
              <a:t>One shared conversation.</a:t>
            </a:r>
          </a:p>
        </p:txBody>
      </p:sp>
      <p:sp>
        <p:nvSpPr>
          <p:cNvPr id="9" name="Rounded Rectangle 8"/>
          <p:cNvSpPr/>
          <p:nvPr/>
        </p:nvSpPr>
        <p:spPr>
          <a:xfrm>
            <a:off x="713232" y="3255264"/>
            <a:ext cx="4224528" cy="3172968"/>
          </a:xfrm>
          <a:prstGeom prst="roundRect">
            <a:avLst>
              <a:gd name="adj" fmla="val 576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3474720"/>
            <a:ext cx="3749039" cy="411480"/>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147C6F"/>
                </a:solidFill>
                <a:latin typeface="Arial"/>
              </a:rPr>
              <a:t>01 / SIGN</a:t>
            </a:r>
          </a:p>
        </p:txBody>
      </p:sp>
      <p:sp>
        <p:nvSpPr>
          <p:cNvPr id="11" name="TextBox 10"/>
          <p:cNvSpPr txBox="1"/>
          <p:nvPr/>
        </p:nvSpPr>
        <p:spPr>
          <a:xfrm>
            <a:off x="950976" y="4078224"/>
            <a:ext cx="3749039" cy="822960"/>
          </a:xfrm>
          <a:prstGeom prst="rect">
            <a:avLst/>
          </a:prstGeom>
          <a:noFill/>
        </p:spPr>
        <p:txBody>
          <a:bodyPr wrap="square" lIns="0" rIns="0" tIns="0" bIns="0">
            <a:spAutoFit/>
          </a:bodyPr>
          <a:lstStyle/>
          <a:p>
            <a:pPr algn="l">
              <a:lnSpc>
                <a:spcPct val="112000"/>
              </a:lnSpc>
              <a:spcBef>
                <a:spcPts val="0"/>
              </a:spcBef>
              <a:spcAft>
                <a:spcPts val="0"/>
              </a:spcAft>
            </a:pPr>
            <a:r>
              <a:rPr sz="2448" b="1">
                <a:solidFill>
                  <a:srgbClr val="152C3B"/>
                </a:solidFill>
                <a:latin typeface="Arial"/>
              </a:rPr>
              <a:t>Glove + avatar</a:t>
            </a:r>
          </a:p>
        </p:txBody>
      </p:sp>
      <p:sp>
        <p:nvSpPr>
          <p:cNvPr id="12" name="TextBox 11"/>
          <p:cNvSpPr txBox="1"/>
          <p:nvPr/>
        </p:nvSpPr>
        <p:spPr>
          <a:xfrm>
            <a:off x="950976" y="5038344"/>
            <a:ext cx="3749039" cy="1207008"/>
          </a:xfrm>
          <a:prstGeom prst="rect">
            <a:avLst/>
          </a:prstGeom>
          <a:noFill/>
        </p:spPr>
        <p:txBody>
          <a:bodyPr wrap="square" lIns="0" rIns="0" tIns="0" bIns="0">
            <a:spAutoFit/>
          </a:bodyPr>
          <a:lstStyle/>
          <a:p>
            <a:pPr algn="l">
              <a:lnSpc>
                <a:spcPct val="112000"/>
              </a:lnSpc>
              <a:spcBef>
                <a:spcPts val="0"/>
              </a:spcBef>
              <a:spcAft>
                <a:spcPts val="0"/>
              </a:spcAft>
            </a:pPr>
            <a:r>
              <a:rPr sz="1800" b="0">
                <a:solidFill>
                  <a:srgbClr val="526775"/>
                </a:solidFill>
                <a:latin typeface="Arial"/>
              </a:rPr>
              <a:t>Gesture input for Deaf users.</a:t>
            </a:r>
          </a:p>
          <a:p>
            <a:pPr algn="l">
              <a:lnSpc>
                <a:spcPct val="112000"/>
              </a:lnSpc>
              <a:spcBef>
                <a:spcPts val="0"/>
              </a:spcBef>
              <a:spcAft>
                <a:spcPts val="0"/>
              </a:spcAft>
            </a:pPr>
            <a:r>
              <a:rPr sz="1800" b="0">
                <a:solidFill>
                  <a:srgbClr val="526775"/>
                </a:solidFill>
                <a:latin typeface="Arial"/>
              </a:rPr>
              <a:t>Signing-avatar output planned.</a:t>
            </a:r>
          </a:p>
        </p:txBody>
      </p:sp>
      <p:sp>
        <p:nvSpPr>
          <p:cNvPr id="13" name="Rounded Rectangle 12"/>
          <p:cNvSpPr/>
          <p:nvPr/>
        </p:nvSpPr>
        <p:spPr>
          <a:xfrm>
            <a:off x="5202936" y="3255264"/>
            <a:ext cx="4224528" cy="3172968"/>
          </a:xfrm>
          <a:prstGeom prst="roundRect">
            <a:avLst>
              <a:gd name="adj" fmla="val 576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3474720"/>
            <a:ext cx="3749039" cy="411480"/>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88633F"/>
                </a:solidFill>
                <a:latin typeface="Arial"/>
              </a:rPr>
              <a:t>02 / TOUCH</a:t>
            </a:r>
          </a:p>
        </p:txBody>
      </p:sp>
      <p:sp>
        <p:nvSpPr>
          <p:cNvPr id="15" name="TextBox 14"/>
          <p:cNvSpPr txBox="1"/>
          <p:nvPr/>
        </p:nvSpPr>
        <p:spPr>
          <a:xfrm>
            <a:off x="5440680" y="4078224"/>
            <a:ext cx="3749039" cy="822960"/>
          </a:xfrm>
          <a:prstGeom prst="rect">
            <a:avLst/>
          </a:prstGeom>
          <a:noFill/>
        </p:spPr>
        <p:txBody>
          <a:bodyPr wrap="square" lIns="0" rIns="0" tIns="0" bIns="0">
            <a:spAutoFit/>
          </a:bodyPr>
          <a:lstStyle/>
          <a:p>
            <a:pPr algn="l">
              <a:lnSpc>
                <a:spcPct val="112000"/>
              </a:lnSpc>
              <a:spcBef>
                <a:spcPts val="0"/>
              </a:spcBef>
              <a:spcAft>
                <a:spcPts val="0"/>
              </a:spcAft>
            </a:pPr>
            <a:r>
              <a:rPr sz="2448" b="1">
                <a:solidFill>
                  <a:srgbClr val="152C3B"/>
                </a:solidFill>
                <a:latin typeface="Arial"/>
              </a:rPr>
              <a:t>Braille + buttons</a:t>
            </a:r>
          </a:p>
        </p:txBody>
      </p:sp>
      <p:sp>
        <p:nvSpPr>
          <p:cNvPr id="16" name="TextBox 15"/>
          <p:cNvSpPr txBox="1"/>
          <p:nvPr/>
        </p:nvSpPr>
        <p:spPr>
          <a:xfrm>
            <a:off x="5440680" y="5038344"/>
            <a:ext cx="3749039" cy="1207008"/>
          </a:xfrm>
          <a:prstGeom prst="rect">
            <a:avLst/>
          </a:prstGeom>
          <a:noFill/>
        </p:spPr>
        <p:txBody>
          <a:bodyPr wrap="square" lIns="0" rIns="0" tIns="0" bIns="0">
            <a:spAutoFit/>
          </a:bodyPr>
          <a:lstStyle/>
          <a:p>
            <a:pPr algn="l">
              <a:lnSpc>
                <a:spcPct val="112000"/>
              </a:lnSpc>
              <a:spcBef>
                <a:spcPts val="0"/>
              </a:spcBef>
              <a:spcAft>
                <a:spcPts val="0"/>
              </a:spcAft>
            </a:pPr>
            <a:r>
              <a:rPr sz="1800" b="0">
                <a:solidFill>
                  <a:srgbClr val="526775"/>
                </a:solidFill>
                <a:latin typeface="Arial"/>
              </a:rPr>
              <a:t>Tactile reading and character</a:t>
            </a:r>
          </a:p>
          <a:p>
            <a:pPr algn="l">
              <a:lnSpc>
                <a:spcPct val="112000"/>
              </a:lnSpc>
              <a:spcBef>
                <a:spcPts val="0"/>
              </a:spcBef>
              <a:spcAft>
                <a:spcPts val="0"/>
              </a:spcAft>
            </a:pPr>
            <a:r>
              <a:rPr sz="1800" b="0">
                <a:solidFill>
                  <a:srgbClr val="526775"/>
                </a:solidFill>
                <a:latin typeface="Arial"/>
              </a:rPr>
              <a:t>entry for blind users.</a:t>
            </a:r>
          </a:p>
        </p:txBody>
      </p:sp>
      <p:sp>
        <p:nvSpPr>
          <p:cNvPr id="17" name="Rounded Rectangle 16"/>
          <p:cNvSpPr/>
          <p:nvPr/>
        </p:nvSpPr>
        <p:spPr>
          <a:xfrm>
            <a:off x="9692640" y="3255264"/>
            <a:ext cx="4224528" cy="3172968"/>
          </a:xfrm>
          <a:prstGeom prst="roundRect">
            <a:avLst>
              <a:gd name="adj" fmla="val 576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0384" y="3474720"/>
            <a:ext cx="3749039" cy="411480"/>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7960AA"/>
                </a:solidFill>
                <a:latin typeface="Arial"/>
              </a:rPr>
              <a:t>03 / INTENT</a:t>
            </a:r>
          </a:p>
        </p:txBody>
      </p:sp>
      <p:sp>
        <p:nvSpPr>
          <p:cNvPr id="19" name="TextBox 18"/>
          <p:cNvSpPr txBox="1"/>
          <p:nvPr/>
        </p:nvSpPr>
        <p:spPr>
          <a:xfrm>
            <a:off x="9930384" y="4078224"/>
            <a:ext cx="3749039" cy="822960"/>
          </a:xfrm>
          <a:prstGeom prst="rect">
            <a:avLst/>
          </a:prstGeom>
          <a:noFill/>
        </p:spPr>
        <p:txBody>
          <a:bodyPr wrap="square" lIns="0" rIns="0" tIns="0" bIns="0">
            <a:spAutoFit/>
          </a:bodyPr>
          <a:lstStyle/>
          <a:p>
            <a:pPr algn="l">
              <a:lnSpc>
                <a:spcPct val="112000"/>
              </a:lnSpc>
              <a:spcBef>
                <a:spcPts val="0"/>
              </a:spcBef>
              <a:spcAft>
                <a:spcPts val="0"/>
              </a:spcAft>
            </a:pPr>
            <a:r>
              <a:rPr sz="2448" b="1">
                <a:solidFill>
                  <a:srgbClr val="152C3B"/>
                </a:solidFill>
                <a:latin typeface="Arial"/>
              </a:rPr>
              <a:t>Brain + eyes</a:t>
            </a:r>
          </a:p>
        </p:txBody>
      </p:sp>
      <p:sp>
        <p:nvSpPr>
          <p:cNvPr id="20" name="TextBox 19"/>
          <p:cNvSpPr txBox="1"/>
          <p:nvPr/>
        </p:nvSpPr>
        <p:spPr>
          <a:xfrm>
            <a:off x="9930384" y="5038344"/>
            <a:ext cx="3749039" cy="1207008"/>
          </a:xfrm>
          <a:prstGeom prst="rect">
            <a:avLst/>
          </a:prstGeom>
          <a:noFill/>
        </p:spPr>
        <p:txBody>
          <a:bodyPr wrap="square" lIns="0" rIns="0" tIns="0" bIns="0">
            <a:spAutoFit/>
          </a:bodyPr>
          <a:lstStyle/>
          <a:p>
            <a:pPr algn="l">
              <a:lnSpc>
                <a:spcPct val="112000"/>
              </a:lnSpc>
              <a:spcBef>
                <a:spcPts val="0"/>
              </a:spcBef>
              <a:spcAft>
                <a:spcPts val="0"/>
              </a:spcAft>
            </a:pPr>
            <a:r>
              <a:rPr sz="1800" b="0">
                <a:solidFill>
                  <a:srgbClr val="526775"/>
                </a:solidFill>
                <a:latin typeface="Arial"/>
              </a:rPr>
              <a:t>Proposed mobility and messaging</a:t>
            </a:r>
          </a:p>
          <a:p>
            <a:pPr algn="l">
              <a:lnSpc>
                <a:spcPct val="112000"/>
              </a:lnSpc>
              <a:spcBef>
                <a:spcPts val="0"/>
              </a:spcBef>
              <a:spcAft>
                <a:spcPts val="0"/>
              </a:spcAft>
            </a:pPr>
            <a:r>
              <a:rPr sz="1800" b="0">
                <a:solidFill>
                  <a:srgbClr val="526775"/>
                </a:solidFill>
                <a:latin typeface="Arial"/>
              </a:rPr>
              <a:t>for users with motor limitations.</a:t>
            </a:r>
          </a:p>
        </p:txBody>
      </p:sp>
      <p:sp>
        <p:nvSpPr>
          <p:cNvPr id="21" name="TextBox 20"/>
          <p:cNvSpPr txBox="1"/>
          <p:nvPr/>
        </p:nvSpPr>
        <p:spPr>
          <a:xfrm>
            <a:off x="731520" y="6784848"/>
            <a:ext cx="12801600" cy="329184"/>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152C3B"/>
                </a:solidFill>
                <a:latin typeface="Arial"/>
              </a:rPr>
              <a:t>The contribution: connect affordable interfaces through a common message format.</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B6C6CF"/>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B6C6CF"/>
                </a:solidFill>
                <a:latin typeface="Arial"/>
              </a:rPr>
              <a:t>03 / ARCHITECTURE</a:t>
            </a:r>
          </a:p>
        </p:txBody>
      </p:sp>
      <p:cxnSp>
        <p:nvCxnSpPr>
          <p:cNvPr id="4" name="Connector 3"/>
          <p:cNvCxnSpPr/>
          <p:nvPr/>
        </p:nvCxnSpPr>
        <p:spPr>
          <a:xfrm>
            <a:off x="694944" y="7443216"/>
            <a:ext cx="13240512" cy="0"/>
          </a:xfrm>
          <a:prstGeom prst="line">
            <a:avLst/>
          </a:prstGeom>
          <a:ln w="9144">
            <a:solidFill>
              <a:srgbClr val="3446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B6C6CF"/>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B6C6CF"/>
                </a:solidFill>
                <a:latin typeface="Arial"/>
              </a:rPr>
              <a:t>03</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77E1CB"/>
                </a:solidFill>
                <a:latin typeface="Arial"/>
              </a:rPr>
              <a:t>OUR PLATFORM VISION</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FFFFFF"/>
                </a:solidFill>
                <a:latin typeface="Arial"/>
              </a:rPr>
              <a:t>Our own AI/ML processing hub.</a:t>
            </a:r>
          </a:p>
        </p:txBody>
      </p:sp>
      <p:sp>
        <p:nvSpPr>
          <p:cNvPr id="9" name="TextBox 8"/>
          <p:cNvSpPr txBox="1"/>
          <p:nvPr/>
        </p:nvSpPr>
        <p:spPr>
          <a:xfrm>
            <a:off x="731520" y="2770632"/>
            <a:ext cx="12984480" cy="566928"/>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B6C6CF"/>
                </a:solidFill>
                <a:latin typeface="Arial"/>
              </a:rPr>
              <a:t>Raspberry Pi 5 + custom recognition model + an accessible chat interface</a:t>
            </a:r>
          </a:p>
        </p:txBody>
      </p:sp>
      <p:sp>
        <p:nvSpPr>
          <p:cNvPr id="10" name="Rounded Rectangle 9"/>
          <p:cNvSpPr/>
          <p:nvPr/>
        </p:nvSpPr>
        <p:spPr>
          <a:xfrm>
            <a:off x="731520" y="3730752"/>
            <a:ext cx="3383280" cy="950976"/>
          </a:xfrm>
          <a:prstGeom prst="roundRect">
            <a:avLst>
              <a:gd name="adj" fmla="val 19230"/>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877056"/>
            <a:ext cx="2999232" cy="292608"/>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77E1CB"/>
                </a:solidFill>
                <a:latin typeface="Arial"/>
              </a:rPr>
              <a:t>GLOVE</a:t>
            </a:r>
          </a:p>
        </p:txBody>
      </p:sp>
      <p:sp>
        <p:nvSpPr>
          <p:cNvPr id="12" name="TextBox 11"/>
          <p:cNvSpPr txBox="1"/>
          <p:nvPr/>
        </p:nvSpPr>
        <p:spPr>
          <a:xfrm>
            <a:off x="941832" y="4233672"/>
            <a:ext cx="2999232" cy="24688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B6C6CF"/>
                </a:solidFill>
                <a:latin typeface="Arial"/>
              </a:rPr>
              <a:t>5 flex sensors + BNO055</a:t>
            </a:r>
          </a:p>
        </p:txBody>
      </p:sp>
      <p:cxnSp>
        <p:nvCxnSpPr>
          <p:cNvPr id="13" name="Connector 12"/>
          <p:cNvCxnSpPr/>
          <p:nvPr/>
        </p:nvCxnSpPr>
        <p:spPr>
          <a:xfrm>
            <a:off x="4206240" y="4206240"/>
            <a:ext cx="1106424" cy="923544"/>
          </a:xfrm>
          <a:prstGeom prst="line">
            <a:avLst/>
          </a:prstGeom>
          <a:ln w="27432">
            <a:solidFill>
              <a:srgbClr val="77E1C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5202936" y="5056632"/>
            <a:ext cx="109728" cy="73152"/>
          </a:xfrm>
          <a:prstGeom prst="line">
            <a:avLst/>
          </a:prstGeom>
          <a:ln w="27432">
            <a:solidFill>
              <a:srgbClr val="77E1C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5202936" y="5129784"/>
            <a:ext cx="109728" cy="73152"/>
          </a:xfrm>
          <a:prstGeom prst="line">
            <a:avLst/>
          </a:prstGeom>
          <a:ln w="27432">
            <a:solidFill>
              <a:srgbClr val="77E1C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 y="4919472"/>
            <a:ext cx="3383280" cy="950976"/>
          </a:xfrm>
          <a:prstGeom prst="roundRect">
            <a:avLst>
              <a:gd name="adj" fmla="val 19230"/>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5065776"/>
            <a:ext cx="2999232" cy="292608"/>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FFB17B"/>
                </a:solidFill>
                <a:latin typeface="Arial"/>
              </a:rPr>
              <a:t>BRAILLE KEYS</a:t>
            </a:r>
          </a:p>
        </p:txBody>
      </p:sp>
      <p:sp>
        <p:nvSpPr>
          <p:cNvPr id="18" name="TextBox 17"/>
          <p:cNvSpPr txBox="1"/>
          <p:nvPr/>
        </p:nvSpPr>
        <p:spPr>
          <a:xfrm>
            <a:off x="941832" y="5422392"/>
            <a:ext cx="2999232" cy="24688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B6C6CF"/>
                </a:solidFill>
                <a:latin typeface="Arial"/>
              </a:rPr>
              <a:t>6 dot buttons + action</a:t>
            </a:r>
          </a:p>
        </p:txBody>
      </p:sp>
      <p:cxnSp>
        <p:nvCxnSpPr>
          <p:cNvPr id="19" name="Connector 18"/>
          <p:cNvCxnSpPr/>
          <p:nvPr/>
        </p:nvCxnSpPr>
        <p:spPr>
          <a:xfrm flipV="1">
            <a:off x="4206240" y="5129784"/>
            <a:ext cx="1106424" cy="265176"/>
          </a:xfrm>
          <a:prstGeom prst="line">
            <a:avLst/>
          </a:prstGeom>
          <a:ln w="27432">
            <a:solidFill>
              <a:srgbClr val="FFB17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5202936" y="5056632"/>
            <a:ext cx="109728" cy="73152"/>
          </a:xfrm>
          <a:prstGeom prst="line">
            <a:avLst/>
          </a:prstGeom>
          <a:ln w="27432">
            <a:solidFill>
              <a:srgbClr val="FFB17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202936" y="5129784"/>
            <a:ext cx="109728" cy="73152"/>
          </a:xfrm>
          <a:prstGeom prst="line">
            <a:avLst/>
          </a:prstGeom>
          <a:ln w="27432">
            <a:solidFill>
              <a:srgbClr val="FFB17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1520" y="6108192"/>
            <a:ext cx="3383280" cy="950976"/>
          </a:xfrm>
          <a:prstGeom prst="roundRect">
            <a:avLst>
              <a:gd name="adj" fmla="val 19230"/>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6254496"/>
            <a:ext cx="2999232" cy="292608"/>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C9B9FF"/>
                </a:solidFill>
                <a:latin typeface="Arial"/>
              </a:rPr>
              <a:t>GAZE / EEG</a:t>
            </a:r>
          </a:p>
        </p:txBody>
      </p:sp>
      <p:sp>
        <p:nvSpPr>
          <p:cNvPr id="24" name="TextBox 23"/>
          <p:cNvSpPr txBox="1"/>
          <p:nvPr/>
        </p:nvSpPr>
        <p:spPr>
          <a:xfrm>
            <a:off x="941832" y="6611112"/>
            <a:ext cx="2999232" cy="24688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B6C6CF"/>
                </a:solidFill>
                <a:latin typeface="Arial"/>
              </a:rPr>
              <a:t>Proposed input interfaces</a:t>
            </a:r>
          </a:p>
        </p:txBody>
      </p:sp>
      <p:cxnSp>
        <p:nvCxnSpPr>
          <p:cNvPr id="25" name="Connector 24"/>
          <p:cNvCxnSpPr/>
          <p:nvPr/>
        </p:nvCxnSpPr>
        <p:spPr>
          <a:xfrm flipV="1">
            <a:off x="4206240" y="5129784"/>
            <a:ext cx="1106424" cy="1453896"/>
          </a:xfrm>
          <a:prstGeom prst="line">
            <a:avLst/>
          </a:prstGeom>
          <a:ln w="27432">
            <a:solidFill>
              <a:srgbClr val="C9B9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239512" y="5129784"/>
            <a:ext cx="73152" cy="109728"/>
          </a:xfrm>
          <a:prstGeom prst="line">
            <a:avLst/>
          </a:prstGeom>
          <a:ln w="27432">
            <a:solidFill>
              <a:srgbClr val="C9B9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12664" y="5129784"/>
            <a:ext cx="73152" cy="109728"/>
          </a:xfrm>
          <a:prstGeom prst="line">
            <a:avLst/>
          </a:prstGeom>
          <a:ln w="27432">
            <a:solidFill>
              <a:srgbClr val="C9B9FF"/>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486400" y="3675887"/>
            <a:ext cx="3730752" cy="2980944"/>
          </a:xfrm>
          <a:prstGeom prst="roundRect">
            <a:avLst>
              <a:gd name="adj" fmla="val 9202"/>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33288" y="3895344"/>
            <a:ext cx="3227832" cy="320040"/>
          </a:xfrm>
          <a:prstGeom prst="rect">
            <a:avLst/>
          </a:prstGeom>
          <a:noFill/>
        </p:spPr>
        <p:txBody>
          <a:bodyPr wrap="square" lIns="0" rIns="0" tIns="0" bIns="0">
            <a:spAutoFit/>
          </a:bodyPr>
          <a:lstStyle/>
          <a:p>
            <a:pPr algn="ctr">
              <a:lnSpc>
                <a:spcPct val="112000"/>
              </a:lnSpc>
              <a:spcBef>
                <a:spcPts val="0"/>
              </a:spcBef>
              <a:spcAft>
                <a:spcPts val="0"/>
              </a:spcAft>
            </a:pPr>
            <a:r>
              <a:rPr sz="1512" b="1">
                <a:solidFill>
                  <a:srgbClr val="152C3B"/>
                </a:solidFill>
                <a:latin typeface="Arial"/>
              </a:rPr>
              <a:t>AI/ML PROCESSING HUB</a:t>
            </a:r>
          </a:p>
        </p:txBody>
      </p:sp>
      <p:sp>
        <p:nvSpPr>
          <p:cNvPr id="30" name="TextBox 29"/>
          <p:cNvSpPr txBox="1"/>
          <p:nvPr/>
        </p:nvSpPr>
        <p:spPr>
          <a:xfrm>
            <a:off x="5696712" y="4370832"/>
            <a:ext cx="3319272" cy="585216"/>
          </a:xfrm>
          <a:prstGeom prst="rect">
            <a:avLst/>
          </a:prstGeom>
          <a:noFill/>
        </p:spPr>
        <p:txBody>
          <a:bodyPr wrap="square" lIns="0" rIns="0" tIns="0" bIns="0">
            <a:spAutoFit/>
          </a:bodyPr>
          <a:lstStyle/>
          <a:p>
            <a:pPr algn="ctr">
              <a:lnSpc>
                <a:spcPct val="112000"/>
              </a:lnSpc>
              <a:spcBef>
                <a:spcPts val="0"/>
              </a:spcBef>
              <a:spcAft>
                <a:spcPts val="0"/>
              </a:spcAft>
            </a:pPr>
            <a:r>
              <a:rPr sz="3024" b="1">
                <a:solidFill>
                  <a:srgbClr val="152C3B"/>
                </a:solidFill>
                <a:latin typeface="Arial"/>
              </a:rPr>
              <a:t>Raspberry Pi 5</a:t>
            </a:r>
          </a:p>
        </p:txBody>
      </p:sp>
      <p:sp>
        <p:nvSpPr>
          <p:cNvPr id="31" name="TextBox 30"/>
          <p:cNvSpPr txBox="1"/>
          <p:nvPr/>
        </p:nvSpPr>
        <p:spPr>
          <a:xfrm>
            <a:off x="5733288" y="5093208"/>
            <a:ext cx="3227832" cy="1408176"/>
          </a:xfrm>
          <a:prstGeom prst="rect">
            <a:avLst/>
          </a:prstGeom>
          <a:noFill/>
        </p:spPr>
        <p:txBody>
          <a:bodyPr wrap="square" lIns="0" rIns="0" tIns="0" bIns="0">
            <a:spAutoFit/>
          </a:bodyPr>
          <a:lstStyle/>
          <a:p>
            <a:pPr algn="ctr">
              <a:lnSpc>
                <a:spcPct val="112000"/>
              </a:lnSpc>
              <a:spcBef>
                <a:spcPts val="0"/>
              </a:spcBef>
              <a:spcAft>
                <a:spcPts val="0"/>
              </a:spcAft>
            </a:pPr>
            <a:r>
              <a:rPr sz="1728" b="0">
                <a:solidFill>
                  <a:srgbClr val="152C3B"/>
                </a:solidFill>
                <a:latin typeface="Arial"/>
              </a:rPr>
              <a:t>Our own AI/ML model*</a:t>
            </a:r>
          </a:p>
          <a:p>
            <a:pPr algn="ctr">
              <a:lnSpc>
                <a:spcPct val="112000"/>
              </a:lnSpc>
              <a:spcBef>
                <a:spcPts val="0"/>
              </a:spcBef>
              <a:spcAft>
                <a:spcPts val="0"/>
              </a:spcAft>
            </a:pPr>
            <a:r>
              <a:rPr sz="1728" b="0">
                <a:solidFill>
                  <a:srgbClr val="152C3B"/>
                </a:solidFill>
                <a:latin typeface="Arial"/>
              </a:rPr>
              <a:t>Chat + conversation history*</a:t>
            </a:r>
          </a:p>
          <a:p>
            <a:pPr algn="ctr">
              <a:lnSpc>
                <a:spcPct val="112000"/>
              </a:lnSpc>
              <a:spcBef>
                <a:spcPts val="0"/>
              </a:spcBef>
              <a:spcAft>
                <a:spcPts val="0"/>
              </a:spcAft>
            </a:pPr>
            <a:r>
              <a:rPr sz="1728" b="0">
                <a:solidFill>
                  <a:srgbClr val="152C3B"/>
                </a:solidFill>
                <a:latin typeface="Arial"/>
              </a:rPr>
              <a:t>Message routing</a:t>
            </a:r>
          </a:p>
          <a:p>
            <a:pPr algn="ctr">
              <a:lnSpc>
                <a:spcPct val="112000"/>
              </a:lnSpc>
              <a:spcBef>
                <a:spcPts val="0"/>
              </a:spcBef>
              <a:spcAft>
                <a:spcPts val="0"/>
              </a:spcAft>
            </a:pPr>
            <a:r>
              <a:rPr sz="1728" b="0">
                <a:solidFill>
                  <a:srgbClr val="152C3B"/>
                </a:solidFill>
                <a:latin typeface="Arial"/>
              </a:rPr>
              <a:t>Accessible format conversion</a:t>
            </a:r>
          </a:p>
        </p:txBody>
      </p:sp>
      <p:cxnSp>
        <p:nvCxnSpPr>
          <p:cNvPr id="32" name="Connector 31"/>
          <p:cNvCxnSpPr/>
          <p:nvPr/>
        </p:nvCxnSpPr>
        <p:spPr>
          <a:xfrm flipV="1">
            <a:off x="9281160" y="4160520"/>
            <a:ext cx="1115568" cy="969264"/>
          </a:xfrm>
          <a:prstGeom prst="line">
            <a:avLst/>
          </a:prstGeom>
          <a:ln w="27432">
            <a:solidFill>
              <a:srgbClr val="FFB17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10287000" y="4087368"/>
            <a:ext cx="109728" cy="73152"/>
          </a:xfrm>
          <a:prstGeom prst="line">
            <a:avLst/>
          </a:prstGeom>
          <a:ln w="27432">
            <a:solidFill>
              <a:srgbClr val="FFB17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287000" y="4160520"/>
            <a:ext cx="109728" cy="73152"/>
          </a:xfrm>
          <a:prstGeom prst="line">
            <a:avLst/>
          </a:prstGeom>
          <a:ln w="27432">
            <a:solidFill>
              <a:srgbClr val="FFB17B"/>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0515600" y="3749039"/>
            <a:ext cx="3383280" cy="841248"/>
          </a:xfrm>
          <a:prstGeom prst="roundRect">
            <a:avLst>
              <a:gd name="adj" fmla="val 21739"/>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16768" y="3986784"/>
            <a:ext cx="3008376" cy="411480"/>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FFB17B"/>
                </a:solidFill>
                <a:latin typeface="Arial"/>
              </a:rPr>
              <a:t>Physical Braille</a:t>
            </a:r>
          </a:p>
        </p:txBody>
      </p:sp>
      <p:cxnSp>
        <p:nvCxnSpPr>
          <p:cNvPr id="37" name="Connector 36"/>
          <p:cNvCxnSpPr/>
          <p:nvPr/>
        </p:nvCxnSpPr>
        <p:spPr>
          <a:xfrm>
            <a:off x="9281160" y="5129784"/>
            <a:ext cx="1115568" cy="173736"/>
          </a:xfrm>
          <a:prstGeom prst="line">
            <a:avLst/>
          </a:prstGeom>
          <a:ln w="27432">
            <a:solidFill>
              <a:srgbClr val="77E1C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10287000" y="5230368"/>
            <a:ext cx="109728" cy="73152"/>
          </a:xfrm>
          <a:prstGeom prst="line">
            <a:avLst/>
          </a:prstGeom>
          <a:ln w="27432">
            <a:solidFill>
              <a:srgbClr val="77E1C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10287000" y="5303520"/>
            <a:ext cx="109728" cy="73152"/>
          </a:xfrm>
          <a:prstGeom prst="line">
            <a:avLst/>
          </a:prstGeom>
          <a:ln w="27432">
            <a:solidFill>
              <a:srgbClr val="77E1CB"/>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0515600" y="4892040"/>
            <a:ext cx="3383280" cy="841248"/>
          </a:xfrm>
          <a:prstGeom prst="roundRect">
            <a:avLst>
              <a:gd name="adj" fmla="val 21739"/>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716768" y="5129784"/>
            <a:ext cx="3008376" cy="411480"/>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77E1CB"/>
                </a:solidFill>
                <a:latin typeface="Arial"/>
              </a:rPr>
              <a:t>Chat interface*</a:t>
            </a:r>
          </a:p>
        </p:txBody>
      </p:sp>
      <p:cxnSp>
        <p:nvCxnSpPr>
          <p:cNvPr id="42" name="Connector 41"/>
          <p:cNvCxnSpPr/>
          <p:nvPr/>
        </p:nvCxnSpPr>
        <p:spPr>
          <a:xfrm>
            <a:off x="9281160" y="5129784"/>
            <a:ext cx="1115568" cy="1316736"/>
          </a:xfrm>
          <a:prstGeom prst="line">
            <a:avLst/>
          </a:prstGeom>
          <a:ln w="27432">
            <a:solidFill>
              <a:srgbClr val="C9B9F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10323576" y="6336792"/>
            <a:ext cx="73152" cy="109728"/>
          </a:xfrm>
          <a:prstGeom prst="line">
            <a:avLst/>
          </a:prstGeom>
          <a:ln w="27432">
            <a:solidFill>
              <a:srgbClr val="C9B9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396728" y="6336792"/>
            <a:ext cx="73152" cy="109728"/>
          </a:xfrm>
          <a:prstGeom prst="line">
            <a:avLst/>
          </a:prstGeom>
          <a:ln w="27432">
            <a:solidFill>
              <a:srgbClr val="C9B9FF"/>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0515600" y="6035040"/>
            <a:ext cx="3383280" cy="841248"/>
          </a:xfrm>
          <a:prstGeom prst="roundRect">
            <a:avLst>
              <a:gd name="adj" fmla="val 21739"/>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716768" y="6272784"/>
            <a:ext cx="3008376" cy="411480"/>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C9B9FF"/>
                </a:solidFill>
                <a:latin typeface="Arial"/>
              </a:rPr>
              <a:t>Avatar / speech*</a:t>
            </a:r>
          </a:p>
        </p:txBody>
      </p:sp>
      <p:sp>
        <p:nvSpPr>
          <p:cNvPr id="47" name="TextBox 46"/>
          <p:cNvSpPr txBox="1"/>
          <p:nvPr/>
        </p:nvSpPr>
        <p:spPr>
          <a:xfrm>
            <a:off x="5504688" y="6848856"/>
            <a:ext cx="8412480" cy="411480"/>
          </a:xfrm>
          <a:prstGeom prst="rect">
            <a:avLst/>
          </a:prstGeom>
          <a:noFill/>
        </p:spPr>
        <p:txBody>
          <a:bodyPr wrap="square" lIns="0" rIns="0" tIns="0" bIns="0">
            <a:spAutoFit/>
          </a:bodyPr>
          <a:lstStyle/>
          <a:p>
            <a:pPr algn="l">
              <a:lnSpc>
                <a:spcPct val="112000"/>
              </a:lnSpc>
              <a:spcBef>
                <a:spcPts val="0"/>
              </a:spcBef>
              <a:spcAft>
                <a:spcPts val="0"/>
              </a:spcAft>
            </a:pPr>
            <a:r>
              <a:rPr sz="1224" b="0">
                <a:solidFill>
                  <a:srgbClr val="B6C6CF"/>
                </a:solidFill>
                <a:latin typeface="Arial"/>
              </a:rPr>
              <a:t>*Proposed integration. Routing + Braille encoding exist in the current hub code.</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B6C6CF"/>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B6C6CF"/>
                </a:solidFill>
                <a:latin typeface="Arial"/>
              </a:rPr>
              <a:t>04 / GLOVE MODULE</a:t>
            </a:r>
          </a:p>
        </p:txBody>
      </p:sp>
      <p:cxnSp>
        <p:nvCxnSpPr>
          <p:cNvPr id="4" name="Connector 3"/>
          <p:cNvCxnSpPr/>
          <p:nvPr/>
        </p:nvCxnSpPr>
        <p:spPr>
          <a:xfrm>
            <a:off x="694944" y="7443216"/>
            <a:ext cx="13240512" cy="0"/>
          </a:xfrm>
          <a:prstGeom prst="line">
            <a:avLst/>
          </a:prstGeom>
          <a:ln w="9144">
            <a:solidFill>
              <a:srgbClr val="3446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B6C6CF"/>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B6C6CF"/>
                </a:solidFill>
                <a:latin typeface="Arial"/>
              </a:rPr>
              <a:t>04</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77E1CB"/>
                </a:solidFill>
                <a:latin typeface="Arial"/>
              </a:rPr>
              <a:t>FEATURE 01 / GESTURE INPUT</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FFFFFF"/>
                </a:solidFill>
                <a:latin typeface="Arial"/>
              </a:rPr>
              <a:t>A hand movement</a:t>
            </a:r>
          </a:p>
          <a:p>
            <a:pPr algn="l">
              <a:lnSpc>
                <a:spcPct val="112000"/>
              </a:lnSpc>
              <a:spcBef>
                <a:spcPts val="0"/>
              </a:spcBef>
              <a:spcAft>
                <a:spcPts val="0"/>
              </a:spcAft>
            </a:pPr>
            <a:r>
              <a:rPr sz="4608" b="1">
                <a:solidFill>
                  <a:srgbClr val="FFFFFF"/>
                </a:solidFill>
                <a:latin typeface="Arial"/>
              </a:rPr>
              <a:t>becomes a message.</a:t>
            </a:r>
          </a:p>
        </p:txBody>
      </p:sp>
      <p:sp>
        <p:nvSpPr>
          <p:cNvPr id="9" name="Rounded Rectangle 8"/>
          <p:cNvSpPr/>
          <p:nvPr/>
        </p:nvSpPr>
        <p:spPr>
          <a:xfrm>
            <a:off x="731520" y="3282696"/>
            <a:ext cx="4123944" cy="3739896"/>
          </a:xfrm>
          <a:prstGeom prst="roundRect">
            <a:avLst>
              <a:gd name="adj" fmla="val 4889"/>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86660" y="4638568"/>
            <a:ext cx="1351848" cy="1474744"/>
          </a:xfrm>
          <a:prstGeom prst="roundRect">
            <a:avLst>
              <a:gd name="adj" fmla="val 24350"/>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096902" y="3931920"/>
            <a:ext cx="296997" cy="1024128"/>
          </a:xfrm>
          <a:prstGeom prst="roundRect">
            <a:avLst>
              <a:gd name="adj" fmla="val 40024"/>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2240280" y="4136745"/>
            <a:ext cx="0" cy="1034369"/>
          </a:xfrm>
          <a:prstGeom prst="line">
            <a:avLst/>
          </a:prstGeom>
          <a:ln w="40965">
            <a:solidFill>
              <a:srgbClr val="152C3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45105" y="3675887"/>
            <a:ext cx="296997" cy="1280160"/>
          </a:xfrm>
          <a:prstGeom prst="roundRect">
            <a:avLst>
              <a:gd name="adj" fmla="val 40024"/>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2588483" y="3880713"/>
            <a:ext cx="0" cy="1290401"/>
          </a:xfrm>
          <a:prstGeom prst="line">
            <a:avLst/>
          </a:prstGeom>
          <a:ln w="40965">
            <a:solidFill>
              <a:srgbClr val="152C3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3309" y="3798783"/>
            <a:ext cx="296997" cy="1157264"/>
          </a:xfrm>
          <a:prstGeom prst="roundRect">
            <a:avLst>
              <a:gd name="adj" fmla="val 40024"/>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2936687" y="4003608"/>
            <a:ext cx="0" cy="1167506"/>
          </a:xfrm>
          <a:prstGeom prst="line">
            <a:avLst/>
          </a:prstGeom>
          <a:ln w="40965">
            <a:solidFill>
              <a:srgbClr val="152C3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141512" y="4075297"/>
            <a:ext cx="296997" cy="880750"/>
          </a:xfrm>
          <a:prstGeom prst="roundRect">
            <a:avLst>
              <a:gd name="adj" fmla="val 40024"/>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3284890" y="4280123"/>
            <a:ext cx="0" cy="890991"/>
          </a:xfrm>
          <a:prstGeom prst="line">
            <a:avLst/>
          </a:prstGeom>
          <a:ln w="40965">
            <a:solidFill>
              <a:srgbClr val="152C3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1769181" y="4833152"/>
            <a:ext cx="450616" cy="430134"/>
          </a:xfrm>
          <a:prstGeom prst="line">
            <a:avLst/>
          </a:prstGeom>
          <a:ln w="317479">
            <a:solidFill>
              <a:srgbClr val="77E1C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383657" y="5693420"/>
            <a:ext cx="747613" cy="593994"/>
          </a:xfrm>
          <a:prstGeom prst="roundRect">
            <a:avLst>
              <a:gd name="adj" fmla="val 13854"/>
            </a:avLst>
          </a:prstGeom>
          <a:solidFill>
            <a:srgbClr val="15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93899" y="5857280"/>
            <a:ext cx="737372" cy="307238"/>
          </a:xfrm>
          <a:prstGeom prst="rect">
            <a:avLst/>
          </a:prstGeom>
          <a:noFill/>
        </p:spPr>
        <p:txBody>
          <a:bodyPr wrap="square" lIns="0" rIns="0" tIns="0" bIns="0">
            <a:spAutoFit/>
          </a:bodyPr>
          <a:lstStyle/>
          <a:p>
            <a:pPr algn="ctr">
              <a:lnSpc>
                <a:spcPct val="112000"/>
              </a:lnSpc>
              <a:spcBef>
                <a:spcPts val="0"/>
              </a:spcBef>
              <a:spcAft>
                <a:spcPts val="0"/>
              </a:spcAft>
            </a:pPr>
            <a:r>
              <a:rPr sz="1370" b="1">
                <a:solidFill>
                  <a:srgbClr val="FFFFFF"/>
                </a:solidFill>
                <a:latin typeface="Arial"/>
              </a:rPr>
              <a:t>IMU</a:t>
            </a:r>
          </a:p>
        </p:txBody>
      </p:sp>
      <p:sp>
        <p:nvSpPr>
          <p:cNvPr id="22" name="TextBox 21"/>
          <p:cNvSpPr txBox="1"/>
          <p:nvPr/>
        </p:nvSpPr>
        <p:spPr>
          <a:xfrm>
            <a:off x="978408" y="6446520"/>
            <a:ext cx="3630168" cy="365760"/>
          </a:xfrm>
          <a:prstGeom prst="rect">
            <a:avLst/>
          </a:prstGeom>
          <a:noFill/>
        </p:spPr>
        <p:txBody>
          <a:bodyPr wrap="square" lIns="0" rIns="0" tIns="0" bIns="0">
            <a:spAutoFit/>
          </a:bodyPr>
          <a:lstStyle/>
          <a:p>
            <a:pPr algn="ctr">
              <a:lnSpc>
                <a:spcPct val="112000"/>
              </a:lnSpc>
              <a:spcBef>
                <a:spcPts val="0"/>
              </a:spcBef>
              <a:spcAft>
                <a:spcPts val="0"/>
              </a:spcAft>
            </a:pPr>
            <a:r>
              <a:rPr sz="1655" b="1">
                <a:solidFill>
                  <a:srgbClr val="77E1CB"/>
                </a:solidFill>
                <a:latin typeface="Arial"/>
              </a:rPr>
              <a:t>5 flex sensors + BNO055 IMU</a:t>
            </a:r>
          </a:p>
        </p:txBody>
      </p:sp>
      <p:sp>
        <p:nvSpPr>
          <p:cNvPr id="23" name="TextBox 22"/>
          <p:cNvSpPr txBox="1"/>
          <p:nvPr/>
        </p:nvSpPr>
        <p:spPr>
          <a:xfrm>
            <a:off x="5468112" y="3328416"/>
            <a:ext cx="1901952" cy="365760"/>
          </a:xfrm>
          <a:prstGeom prst="rect">
            <a:avLst/>
          </a:prstGeom>
          <a:noFill/>
        </p:spPr>
        <p:txBody>
          <a:bodyPr wrap="square" lIns="0" rIns="0" tIns="0" bIns="0">
            <a:spAutoFit/>
          </a:bodyPr>
          <a:lstStyle/>
          <a:p>
            <a:pPr algn="l">
              <a:lnSpc>
                <a:spcPct val="112000"/>
              </a:lnSpc>
              <a:spcBef>
                <a:spcPts val="0"/>
              </a:spcBef>
              <a:spcAft>
                <a:spcPts val="0"/>
              </a:spcAft>
            </a:pPr>
            <a:r>
              <a:rPr sz="1800" b="1">
                <a:solidFill>
                  <a:srgbClr val="77E1CB"/>
                </a:solidFill>
                <a:latin typeface="Arial"/>
              </a:rPr>
              <a:t>SENSE</a:t>
            </a:r>
          </a:p>
        </p:txBody>
      </p:sp>
      <p:sp>
        <p:nvSpPr>
          <p:cNvPr id="24" name="TextBox 23"/>
          <p:cNvSpPr txBox="1"/>
          <p:nvPr/>
        </p:nvSpPr>
        <p:spPr>
          <a:xfrm>
            <a:off x="7397496" y="3328416"/>
            <a:ext cx="6291072" cy="630936"/>
          </a:xfrm>
          <a:prstGeom prst="rect">
            <a:avLst/>
          </a:prstGeom>
          <a:noFill/>
        </p:spPr>
        <p:txBody>
          <a:bodyPr wrap="square" lIns="0" rIns="0" tIns="0" bIns="0">
            <a:spAutoFit/>
          </a:bodyPr>
          <a:lstStyle/>
          <a:p>
            <a:pPr algn="l">
              <a:lnSpc>
                <a:spcPct val="112000"/>
              </a:lnSpc>
              <a:spcBef>
                <a:spcPts val="0"/>
              </a:spcBef>
              <a:spcAft>
                <a:spcPts val="0"/>
              </a:spcAft>
            </a:pPr>
            <a:r>
              <a:rPr sz="2088" b="0">
                <a:solidFill>
                  <a:srgbClr val="FFFFFF"/>
                </a:solidFill>
                <a:latin typeface="Arial"/>
              </a:rPr>
              <a:t>Finger bend + palm orientation</a:t>
            </a:r>
          </a:p>
        </p:txBody>
      </p:sp>
      <p:sp>
        <p:nvSpPr>
          <p:cNvPr id="25" name="TextBox 24"/>
          <p:cNvSpPr txBox="1"/>
          <p:nvPr/>
        </p:nvSpPr>
        <p:spPr>
          <a:xfrm>
            <a:off x="5468112" y="4251960"/>
            <a:ext cx="1901952" cy="365760"/>
          </a:xfrm>
          <a:prstGeom prst="rect">
            <a:avLst/>
          </a:prstGeom>
          <a:noFill/>
        </p:spPr>
        <p:txBody>
          <a:bodyPr wrap="square" lIns="0" rIns="0" tIns="0" bIns="0">
            <a:spAutoFit/>
          </a:bodyPr>
          <a:lstStyle/>
          <a:p>
            <a:pPr algn="l">
              <a:lnSpc>
                <a:spcPct val="112000"/>
              </a:lnSpc>
              <a:spcBef>
                <a:spcPts val="0"/>
              </a:spcBef>
              <a:spcAft>
                <a:spcPts val="0"/>
              </a:spcAft>
            </a:pPr>
            <a:r>
              <a:rPr sz="1800" b="1">
                <a:solidFill>
                  <a:srgbClr val="77E1CB"/>
                </a:solidFill>
                <a:latin typeface="Arial"/>
              </a:rPr>
              <a:t>INTERPRET</a:t>
            </a:r>
          </a:p>
        </p:txBody>
      </p:sp>
      <p:sp>
        <p:nvSpPr>
          <p:cNvPr id="26" name="TextBox 25"/>
          <p:cNvSpPr txBox="1"/>
          <p:nvPr/>
        </p:nvSpPr>
        <p:spPr>
          <a:xfrm>
            <a:off x="7397496" y="4251960"/>
            <a:ext cx="6291072" cy="630936"/>
          </a:xfrm>
          <a:prstGeom prst="rect">
            <a:avLst/>
          </a:prstGeom>
          <a:noFill/>
        </p:spPr>
        <p:txBody>
          <a:bodyPr wrap="square" lIns="0" rIns="0" tIns="0" bIns="0">
            <a:spAutoFit/>
          </a:bodyPr>
          <a:lstStyle/>
          <a:p>
            <a:pPr algn="l">
              <a:lnSpc>
                <a:spcPct val="112000"/>
              </a:lnSpc>
              <a:spcBef>
                <a:spcPts val="0"/>
              </a:spcBef>
              <a:spcAft>
                <a:spcPts val="0"/>
              </a:spcAft>
            </a:pPr>
            <a:r>
              <a:rPr sz="2088" b="0">
                <a:solidFill>
                  <a:srgbClr val="FFFFFF"/>
                </a:solidFill>
                <a:latin typeface="Arial"/>
              </a:rPr>
              <a:t>ESP32-S3 calibration + gesture rules</a:t>
            </a:r>
          </a:p>
        </p:txBody>
      </p:sp>
      <p:sp>
        <p:nvSpPr>
          <p:cNvPr id="27" name="TextBox 26"/>
          <p:cNvSpPr txBox="1"/>
          <p:nvPr/>
        </p:nvSpPr>
        <p:spPr>
          <a:xfrm>
            <a:off x="5468112" y="5175504"/>
            <a:ext cx="1901952" cy="365760"/>
          </a:xfrm>
          <a:prstGeom prst="rect">
            <a:avLst/>
          </a:prstGeom>
          <a:noFill/>
        </p:spPr>
        <p:txBody>
          <a:bodyPr wrap="square" lIns="0" rIns="0" tIns="0" bIns="0">
            <a:spAutoFit/>
          </a:bodyPr>
          <a:lstStyle/>
          <a:p>
            <a:pPr algn="l">
              <a:lnSpc>
                <a:spcPct val="112000"/>
              </a:lnSpc>
              <a:spcBef>
                <a:spcPts val="0"/>
              </a:spcBef>
              <a:spcAft>
                <a:spcPts val="0"/>
              </a:spcAft>
            </a:pPr>
            <a:r>
              <a:rPr sz="1800" b="1">
                <a:solidFill>
                  <a:srgbClr val="77E1CB"/>
                </a:solidFill>
                <a:latin typeface="Arial"/>
              </a:rPr>
              <a:t>SEND</a:t>
            </a:r>
          </a:p>
        </p:txBody>
      </p:sp>
      <p:sp>
        <p:nvSpPr>
          <p:cNvPr id="28" name="TextBox 27"/>
          <p:cNvSpPr txBox="1"/>
          <p:nvPr/>
        </p:nvSpPr>
        <p:spPr>
          <a:xfrm>
            <a:off x="7397496" y="5175504"/>
            <a:ext cx="6291072" cy="630936"/>
          </a:xfrm>
          <a:prstGeom prst="rect">
            <a:avLst/>
          </a:prstGeom>
          <a:noFill/>
        </p:spPr>
        <p:txBody>
          <a:bodyPr wrap="square" lIns="0" rIns="0" tIns="0" bIns="0">
            <a:spAutoFit/>
          </a:bodyPr>
          <a:lstStyle/>
          <a:p>
            <a:pPr algn="l">
              <a:lnSpc>
                <a:spcPct val="112000"/>
              </a:lnSpc>
              <a:spcBef>
                <a:spcPts val="0"/>
              </a:spcBef>
              <a:spcAft>
                <a:spcPts val="0"/>
              </a:spcAft>
            </a:pPr>
            <a:r>
              <a:rPr sz="2088" b="0">
                <a:solidFill>
                  <a:srgbClr val="FFFFFF"/>
                </a:solidFill>
                <a:latin typeface="Arial"/>
              </a:rPr>
              <a:t>Message → MQTT → Raspberry Pi</a:t>
            </a:r>
          </a:p>
        </p:txBody>
      </p:sp>
      <p:sp>
        <p:nvSpPr>
          <p:cNvPr id="29" name="Rounded Rectangle 28"/>
          <p:cNvSpPr/>
          <p:nvPr/>
        </p:nvSpPr>
        <p:spPr>
          <a:xfrm>
            <a:off x="5385816" y="6245352"/>
            <a:ext cx="8513064" cy="804672"/>
          </a:xfrm>
          <a:prstGeom prst="roundRect">
            <a:avLst>
              <a:gd name="adj" fmla="val 22727"/>
            </a:avLst>
          </a:prstGeom>
          <a:solidFill>
            <a:srgbClr val="1B2D3C"/>
          </a:solidFill>
          <a:ln w="18288">
            <a:solidFill>
              <a:srgbClr val="C9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32704" y="6391656"/>
            <a:ext cx="8083296" cy="585216"/>
          </a:xfrm>
          <a:prstGeom prst="rect">
            <a:avLst/>
          </a:prstGeom>
          <a:noFill/>
        </p:spPr>
        <p:txBody>
          <a:bodyPr wrap="square" lIns="0" rIns="0" tIns="0" bIns="0">
            <a:spAutoFit/>
          </a:bodyPr>
          <a:lstStyle/>
          <a:p>
            <a:pPr algn="l">
              <a:lnSpc>
                <a:spcPct val="112000"/>
              </a:lnSpc>
              <a:spcBef>
                <a:spcPts val="0"/>
              </a:spcBef>
              <a:spcAft>
                <a:spcPts val="0"/>
              </a:spcAft>
            </a:pPr>
            <a:r>
              <a:rPr sz="1943" b="1">
                <a:solidFill>
                  <a:srgbClr val="C9B9FF"/>
                </a:solidFill>
                <a:latin typeface="Arial"/>
              </a:rPr>
              <a:t>NEXT: our own trained fusion model + a signing-avatar receiver</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526775"/>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526775"/>
                </a:solidFill>
                <a:latin typeface="Arial"/>
              </a:rPr>
              <a:t>05 / BRAILLE MODULE</a:t>
            </a:r>
          </a:p>
        </p:txBody>
      </p:sp>
      <p:cxnSp>
        <p:nvCxnSpPr>
          <p:cNvPr id="4" name="Connector 3"/>
          <p:cNvCxnSpPr/>
          <p:nvPr/>
        </p:nvCxnSpPr>
        <p:spPr>
          <a:xfrm>
            <a:off x="694944" y="7443216"/>
            <a:ext cx="13240512" cy="0"/>
          </a:xfrm>
          <a:prstGeom prst="line">
            <a:avLst/>
          </a:prstGeom>
          <a:ln w="9144">
            <a:solidFill>
              <a:srgbClr val="D7DD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26775"/>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26775"/>
                </a:solidFill>
                <a:latin typeface="Arial"/>
              </a:rPr>
              <a:t>05</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526775"/>
                </a:solidFill>
                <a:latin typeface="Arial"/>
              </a:rPr>
              <a:t>FEATURES 02 + 03 / TACTILE OUTPUT + BUTTON INPUT</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152C3B"/>
                </a:solidFill>
                <a:latin typeface="Arial"/>
              </a:rPr>
              <a:t>Read with touch.</a:t>
            </a:r>
          </a:p>
          <a:p>
            <a:pPr algn="l">
              <a:lnSpc>
                <a:spcPct val="112000"/>
              </a:lnSpc>
              <a:spcBef>
                <a:spcPts val="0"/>
              </a:spcBef>
              <a:spcAft>
                <a:spcPts val="0"/>
              </a:spcAft>
            </a:pPr>
            <a:r>
              <a:rPr sz="4608" b="1">
                <a:solidFill>
                  <a:srgbClr val="152C3B"/>
                </a:solidFill>
                <a:latin typeface="Arial"/>
              </a:rPr>
              <a:t>Reply with buttons.</a:t>
            </a:r>
          </a:p>
        </p:txBody>
      </p:sp>
      <p:sp>
        <p:nvSpPr>
          <p:cNvPr id="9" name="Rounded Rectangle 8"/>
          <p:cNvSpPr/>
          <p:nvPr/>
        </p:nvSpPr>
        <p:spPr>
          <a:xfrm>
            <a:off x="731520" y="3282696"/>
            <a:ext cx="7726679" cy="2578608"/>
          </a:xfrm>
          <a:prstGeom prst="roundRect">
            <a:avLst>
              <a:gd name="adj" fmla="val 709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24128" y="3538728"/>
            <a:ext cx="1554480" cy="1655064"/>
          </a:xfrm>
          <a:prstGeom prst="roundRect">
            <a:avLst>
              <a:gd name="adj" fmla="val 10000"/>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90472" y="3758184"/>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90472" y="4131259"/>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90472" y="4504334"/>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863547" y="3758184"/>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863547" y="4131259"/>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63547" y="4504334"/>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5266944"/>
            <a:ext cx="1554480" cy="448056"/>
          </a:xfrm>
          <a:prstGeom prst="rect">
            <a:avLst/>
          </a:prstGeom>
          <a:noFill/>
        </p:spPr>
        <p:txBody>
          <a:bodyPr wrap="square" lIns="0" rIns="0" tIns="0" bIns="0">
            <a:spAutoFit/>
          </a:bodyPr>
          <a:lstStyle/>
          <a:p>
            <a:pPr algn="ctr">
              <a:lnSpc>
                <a:spcPct val="112000"/>
              </a:lnSpc>
              <a:spcBef>
                <a:spcPts val="0"/>
              </a:spcBef>
              <a:spcAft>
                <a:spcPts val="0"/>
              </a:spcAft>
            </a:pPr>
            <a:r>
              <a:rPr sz="2304" b="1">
                <a:solidFill>
                  <a:srgbClr val="152C3B"/>
                </a:solidFill>
                <a:latin typeface="Arial"/>
              </a:rPr>
              <a:t>H</a:t>
            </a:r>
          </a:p>
        </p:txBody>
      </p:sp>
      <p:sp>
        <p:nvSpPr>
          <p:cNvPr id="18" name="Rounded Rectangle 17"/>
          <p:cNvSpPr/>
          <p:nvPr/>
        </p:nvSpPr>
        <p:spPr>
          <a:xfrm>
            <a:off x="2862072" y="3538728"/>
            <a:ext cx="1554480" cy="1655064"/>
          </a:xfrm>
          <a:prstGeom prst="roundRect">
            <a:avLst>
              <a:gd name="adj" fmla="val 10000"/>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328416" y="3758184"/>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328416" y="4131259"/>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328416" y="4504334"/>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1491" y="3758184"/>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01491" y="4131259"/>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701491" y="4504334"/>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62072" y="5266944"/>
            <a:ext cx="1554480" cy="448056"/>
          </a:xfrm>
          <a:prstGeom prst="rect">
            <a:avLst/>
          </a:prstGeom>
          <a:noFill/>
        </p:spPr>
        <p:txBody>
          <a:bodyPr wrap="square" lIns="0" rIns="0" tIns="0" bIns="0">
            <a:spAutoFit/>
          </a:bodyPr>
          <a:lstStyle/>
          <a:p>
            <a:pPr algn="ctr">
              <a:lnSpc>
                <a:spcPct val="112000"/>
              </a:lnSpc>
              <a:spcBef>
                <a:spcPts val="0"/>
              </a:spcBef>
              <a:spcAft>
                <a:spcPts val="0"/>
              </a:spcAft>
            </a:pPr>
            <a:r>
              <a:rPr sz="2304" b="1">
                <a:solidFill>
                  <a:srgbClr val="152C3B"/>
                </a:solidFill>
                <a:latin typeface="Arial"/>
              </a:rPr>
              <a:t>E</a:t>
            </a:r>
          </a:p>
        </p:txBody>
      </p:sp>
      <p:sp>
        <p:nvSpPr>
          <p:cNvPr id="26" name="Rounded Rectangle 25"/>
          <p:cNvSpPr/>
          <p:nvPr/>
        </p:nvSpPr>
        <p:spPr>
          <a:xfrm>
            <a:off x="4700016" y="3538728"/>
            <a:ext cx="1554480" cy="1655064"/>
          </a:xfrm>
          <a:prstGeom prst="roundRect">
            <a:avLst>
              <a:gd name="adj" fmla="val 10000"/>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166360" y="3758184"/>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66360" y="4131259"/>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166360" y="4504334"/>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539435" y="3758184"/>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539435" y="4131259"/>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539435" y="4504334"/>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0016" y="5266944"/>
            <a:ext cx="1554480" cy="448056"/>
          </a:xfrm>
          <a:prstGeom prst="rect">
            <a:avLst/>
          </a:prstGeom>
          <a:noFill/>
        </p:spPr>
        <p:txBody>
          <a:bodyPr wrap="square" lIns="0" rIns="0" tIns="0" bIns="0">
            <a:spAutoFit/>
          </a:bodyPr>
          <a:lstStyle/>
          <a:p>
            <a:pPr algn="ctr">
              <a:lnSpc>
                <a:spcPct val="112000"/>
              </a:lnSpc>
              <a:spcBef>
                <a:spcPts val="0"/>
              </a:spcBef>
              <a:spcAft>
                <a:spcPts val="0"/>
              </a:spcAft>
            </a:pPr>
            <a:r>
              <a:rPr sz="2304" b="1">
                <a:solidFill>
                  <a:srgbClr val="152C3B"/>
                </a:solidFill>
                <a:latin typeface="Arial"/>
              </a:rPr>
              <a:t>L</a:t>
            </a:r>
          </a:p>
        </p:txBody>
      </p:sp>
      <p:sp>
        <p:nvSpPr>
          <p:cNvPr id="34" name="Rounded Rectangle 33"/>
          <p:cNvSpPr/>
          <p:nvPr/>
        </p:nvSpPr>
        <p:spPr>
          <a:xfrm>
            <a:off x="6537960" y="3538728"/>
            <a:ext cx="1554480" cy="1655064"/>
          </a:xfrm>
          <a:prstGeom prst="roundRect">
            <a:avLst>
              <a:gd name="adj" fmla="val 10000"/>
            </a:avLst>
          </a:prstGeom>
          <a:solidFill>
            <a:srgbClr val="F5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004304" y="3758184"/>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04304" y="4131259"/>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004304" y="4504334"/>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377379" y="3758184"/>
            <a:ext cx="219456" cy="219456"/>
          </a:xfrm>
          <a:prstGeom prst="ellipse">
            <a:avLst/>
          </a:prstGeom>
          <a:solidFill>
            <a:srgbClr val="1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377379" y="4131259"/>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377379" y="4504334"/>
            <a:ext cx="219456" cy="219456"/>
          </a:xfrm>
          <a:prstGeom prst="ellipse">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37960" y="5266944"/>
            <a:ext cx="1554480" cy="448056"/>
          </a:xfrm>
          <a:prstGeom prst="rect">
            <a:avLst/>
          </a:prstGeom>
          <a:noFill/>
        </p:spPr>
        <p:txBody>
          <a:bodyPr wrap="square" lIns="0" rIns="0" tIns="0" bIns="0">
            <a:spAutoFit/>
          </a:bodyPr>
          <a:lstStyle/>
          <a:p>
            <a:pPr algn="ctr">
              <a:lnSpc>
                <a:spcPct val="112000"/>
              </a:lnSpc>
              <a:spcBef>
                <a:spcPts val="0"/>
              </a:spcBef>
              <a:spcAft>
                <a:spcPts val="0"/>
              </a:spcAft>
            </a:pPr>
            <a:r>
              <a:rPr sz="2304" b="1">
                <a:solidFill>
                  <a:srgbClr val="152C3B"/>
                </a:solidFill>
                <a:latin typeface="Arial"/>
              </a:rPr>
              <a:t>P</a:t>
            </a:r>
          </a:p>
        </p:txBody>
      </p:sp>
      <p:sp>
        <p:nvSpPr>
          <p:cNvPr id="42" name="TextBox 41"/>
          <p:cNvSpPr txBox="1"/>
          <p:nvPr/>
        </p:nvSpPr>
        <p:spPr>
          <a:xfrm>
            <a:off x="950976" y="6099048"/>
            <a:ext cx="7315200" cy="411480"/>
          </a:xfrm>
          <a:prstGeom prst="rect">
            <a:avLst/>
          </a:prstGeom>
          <a:noFill/>
        </p:spPr>
        <p:txBody>
          <a:bodyPr wrap="square" lIns="0" rIns="0" tIns="0" bIns="0">
            <a:spAutoFit/>
          </a:bodyPr>
          <a:lstStyle/>
          <a:p>
            <a:pPr algn="l">
              <a:lnSpc>
                <a:spcPct val="112000"/>
              </a:lnSpc>
              <a:spcBef>
                <a:spcPts val="0"/>
              </a:spcBef>
              <a:spcAft>
                <a:spcPts val="0"/>
              </a:spcAft>
            </a:pPr>
            <a:r>
              <a:rPr sz="2304" b="1">
                <a:solidFill>
                  <a:srgbClr val="152C3B"/>
                </a:solidFill>
                <a:latin typeface="Arial"/>
              </a:rPr>
              <a:t>4 cells × 2 servos = 8 MG90S actuators</a:t>
            </a:r>
          </a:p>
        </p:txBody>
      </p:sp>
      <p:sp>
        <p:nvSpPr>
          <p:cNvPr id="43" name="TextBox 42"/>
          <p:cNvSpPr txBox="1"/>
          <p:nvPr/>
        </p:nvSpPr>
        <p:spPr>
          <a:xfrm>
            <a:off x="950976" y="6629400"/>
            <a:ext cx="7315200" cy="393192"/>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526775"/>
                </a:solidFill>
                <a:latin typeface="Arial"/>
              </a:rPr>
              <a:t>Cam mechanism • physical dots • replaceable parts</a:t>
            </a:r>
          </a:p>
        </p:txBody>
      </p:sp>
      <p:sp>
        <p:nvSpPr>
          <p:cNvPr id="44" name="Rounded Rectangle 43"/>
          <p:cNvSpPr/>
          <p:nvPr/>
        </p:nvSpPr>
        <p:spPr>
          <a:xfrm>
            <a:off x="8787384" y="3282696"/>
            <a:ext cx="5111496" cy="3758184"/>
          </a:xfrm>
          <a:prstGeom prst="roundRect">
            <a:avLst>
              <a:gd name="adj" fmla="val 4866"/>
            </a:avLst>
          </a:prstGeom>
          <a:solidFill>
            <a:srgbClr val="15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52560" y="3538728"/>
            <a:ext cx="4617720" cy="438912"/>
          </a:xfrm>
          <a:prstGeom prst="rect">
            <a:avLst/>
          </a:prstGeom>
          <a:noFill/>
        </p:spPr>
        <p:txBody>
          <a:bodyPr wrap="square" lIns="0" rIns="0" tIns="0" bIns="0">
            <a:spAutoFit/>
          </a:bodyPr>
          <a:lstStyle/>
          <a:p>
            <a:pPr algn="l">
              <a:lnSpc>
                <a:spcPct val="112000"/>
              </a:lnSpc>
              <a:spcBef>
                <a:spcPts val="0"/>
              </a:spcBef>
              <a:spcAft>
                <a:spcPts val="0"/>
              </a:spcAft>
            </a:pPr>
            <a:r>
              <a:rPr sz="1943" b="1">
                <a:solidFill>
                  <a:srgbClr val="77E1CB"/>
                </a:solidFill>
                <a:latin typeface="Arial"/>
              </a:rPr>
              <a:t>6 DOT KEYS + 1 ACTION</a:t>
            </a:r>
          </a:p>
        </p:txBody>
      </p:sp>
      <p:sp>
        <p:nvSpPr>
          <p:cNvPr id="46" name="Oval 45"/>
          <p:cNvSpPr/>
          <p:nvPr/>
        </p:nvSpPr>
        <p:spPr>
          <a:xfrm>
            <a:off x="9189720" y="4315968"/>
            <a:ext cx="475488" cy="47548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89720" y="4416552"/>
            <a:ext cx="475488" cy="274320"/>
          </a:xfrm>
          <a:prstGeom prst="rect">
            <a:avLst/>
          </a:prstGeom>
          <a:noFill/>
        </p:spPr>
        <p:txBody>
          <a:bodyPr wrap="square" lIns="0" rIns="0" tIns="0" bIns="0">
            <a:spAutoFit/>
          </a:bodyPr>
          <a:lstStyle/>
          <a:p>
            <a:pPr algn="ctr">
              <a:lnSpc>
                <a:spcPct val="112000"/>
              </a:lnSpc>
              <a:spcBef>
                <a:spcPts val="0"/>
              </a:spcBef>
              <a:spcAft>
                <a:spcPts val="0"/>
              </a:spcAft>
            </a:pPr>
            <a:r>
              <a:rPr sz="1655" b="1">
                <a:solidFill>
                  <a:srgbClr val="152C3B"/>
                </a:solidFill>
                <a:latin typeface="Arial"/>
              </a:rPr>
              <a:t>1</a:t>
            </a:r>
          </a:p>
        </p:txBody>
      </p:sp>
      <p:sp>
        <p:nvSpPr>
          <p:cNvPr id="48" name="Oval 47"/>
          <p:cNvSpPr/>
          <p:nvPr/>
        </p:nvSpPr>
        <p:spPr>
          <a:xfrm>
            <a:off x="9893808" y="4315968"/>
            <a:ext cx="475488" cy="47548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93808" y="4416552"/>
            <a:ext cx="475488" cy="274320"/>
          </a:xfrm>
          <a:prstGeom prst="rect">
            <a:avLst/>
          </a:prstGeom>
          <a:noFill/>
        </p:spPr>
        <p:txBody>
          <a:bodyPr wrap="square" lIns="0" rIns="0" tIns="0" bIns="0">
            <a:spAutoFit/>
          </a:bodyPr>
          <a:lstStyle/>
          <a:p>
            <a:pPr algn="ctr">
              <a:lnSpc>
                <a:spcPct val="112000"/>
              </a:lnSpc>
              <a:spcBef>
                <a:spcPts val="0"/>
              </a:spcBef>
              <a:spcAft>
                <a:spcPts val="0"/>
              </a:spcAft>
            </a:pPr>
            <a:r>
              <a:rPr sz="1655" b="1">
                <a:solidFill>
                  <a:srgbClr val="152C3B"/>
                </a:solidFill>
                <a:latin typeface="Arial"/>
              </a:rPr>
              <a:t>2</a:t>
            </a:r>
          </a:p>
        </p:txBody>
      </p:sp>
      <p:sp>
        <p:nvSpPr>
          <p:cNvPr id="50" name="Oval 49"/>
          <p:cNvSpPr/>
          <p:nvPr/>
        </p:nvSpPr>
        <p:spPr>
          <a:xfrm>
            <a:off x="10597896" y="4315968"/>
            <a:ext cx="475488" cy="47548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97896" y="4416552"/>
            <a:ext cx="475488" cy="274320"/>
          </a:xfrm>
          <a:prstGeom prst="rect">
            <a:avLst/>
          </a:prstGeom>
          <a:noFill/>
        </p:spPr>
        <p:txBody>
          <a:bodyPr wrap="square" lIns="0" rIns="0" tIns="0" bIns="0">
            <a:spAutoFit/>
          </a:bodyPr>
          <a:lstStyle/>
          <a:p>
            <a:pPr algn="ctr">
              <a:lnSpc>
                <a:spcPct val="112000"/>
              </a:lnSpc>
              <a:spcBef>
                <a:spcPts val="0"/>
              </a:spcBef>
              <a:spcAft>
                <a:spcPts val="0"/>
              </a:spcAft>
            </a:pPr>
            <a:r>
              <a:rPr sz="1655" b="1">
                <a:solidFill>
                  <a:srgbClr val="152C3B"/>
                </a:solidFill>
                <a:latin typeface="Arial"/>
              </a:rPr>
              <a:t>3</a:t>
            </a:r>
          </a:p>
        </p:txBody>
      </p:sp>
      <p:sp>
        <p:nvSpPr>
          <p:cNvPr id="52" name="Oval 51"/>
          <p:cNvSpPr/>
          <p:nvPr/>
        </p:nvSpPr>
        <p:spPr>
          <a:xfrm>
            <a:off x="11301984" y="4315968"/>
            <a:ext cx="475488" cy="47548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301984" y="4416552"/>
            <a:ext cx="475488" cy="274320"/>
          </a:xfrm>
          <a:prstGeom prst="rect">
            <a:avLst/>
          </a:prstGeom>
          <a:noFill/>
        </p:spPr>
        <p:txBody>
          <a:bodyPr wrap="square" lIns="0" rIns="0" tIns="0" bIns="0">
            <a:spAutoFit/>
          </a:bodyPr>
          <a:lstStyle/>
          <a:p>
            <a:pPr algn="ctr">
              <a:lnSpc>
                <a:spcPct val="112000"/>
              </a:lnSpc>
              <a:spcBef>
                <a:spcPts val="0"/>
              </a:spcBef>
              <a:spcAft>
                <a:spcPts val="0"/>
              </a:spcAft>
            </a:pPr>
            <a:r>
              <a:rPr sz="1655" b="1">
                <a:solidFill>
                  <a:srgbClr val="152C3B"/>
                </a:solidFill>
                <a:latin typeface="Arial"/>
              </a:rPr>
              <a:t>4</a:t>
            </a:r>
          </a:p>
        </p:txBody>
      </p:sp>
      <p:sp>
        <p:nvSpPr>
          <p:cNvPr id="54" name="Oval 53"/>
          <p:cNvSpPr/>
          <p:nvPr/>
        </p:nvSpPr>
        <p:spPr>
          <a:xfrm>
            <a:off x="12006072" y="4315968"/>
            <a:ext cx="475488" cy="47548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006072" y="4416552"/>
            <a:ext cx="475488" cy="274320"/>
          </a:xfrm>
          <a:prstGeom prst="rect">
            <a:avLst/>
          </a:prstGeom>
          <a:noFill/>
        </p:spPr>
        <p:txBody>
          <a:bodyPr wrap="square" lIns="0" rIns="0" tIns="0" bIns="0">
            <a:spAutoFit/>
          </a:bodyPr>
          <a:lstStyle/>
          <a:p>
            <a:pPr algn="ctr">
              <a:lnSpc>
                <a:spcPct val="112000"/>
              </a:lnSpc>
              <a:spcBef>
                <a:spcPts val="0"/>
              </a:spcBef>
              <a:spcAft>
                <a:spcPts val="0"/>
              </a:spcAft>
            </a:pPr>
            <a:r>
              <a:rPr sz="1655" b="1">
                <a:solidFill>
                  <a:srgbClr val="152C3B"/>
                </a:solidFill>
                <a:latin typeface="Arial"/>
              </a:rPr>
              <a:t>5</a:t>
            </a:r>
          </a:p>
        </p:txBody>
      </p:sp>
      <p:sp>
        <p:nvSpPr>
          <p:cNvPr id="56" name="Oval 55"/>
          <p:cNvSpPr/>
          <p:nvPr/>
        </p:nvSpPr>
        <p:spPr>
          <a:xfrm>
            <a:off x="12710160" y="4315968"/>
            <a:ext cx="475488" cy="475488"/>
          </a:xfrm>
          <a:prstGeom prst="ellipse">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710160" y="4416552"/>
            <a:ext cx="475488" cy="274320"/>
          </a:xfrm>
          <a:prstGeom prst="rect">
            <a:avLst/>
          </a:prstGeom>
          <a:noFill/>
        </p:spPr>
        <p:txBody>
          <a:bodyPr wrap="square" lIns="0" rIns="0" tIns="0" bIns="0">
            <a:spAutoFit/>
          </a:bodyPr>
          <a:lstStyle/>
          <a:p>
            <a:pPr algn="ctr">
              <a:lnSpc>
                <a:spcPct val="112000"/>
              </a:lnSpc>
              <a:spcBef>
                <a:spcPts val="0"/>
              </a:spcBef>
              <a:spcAft>
                <a:spcPts val="0"/>
              </a:spcAft>
            </a:pPr>
            <a:r>
              <a:rPr sz="1655" b="1">
                <a:solidFill>
                  <a:srgbClr val="152C3B"/>
                </a:solidFill>
                <a:latin typeface="Arial"/>
              </a:rPr>
              <a:t>6</a:t>
            </a:r>
          </a:p>
        </p:txBody>
      </p:sp>
      <p:sp>
        <p:nvSpPr>
          <p:cNvPr id="58" name="TextBox 57"/>
          <p:cNvSpPr txBox="1"/>
          <p:nvPr/>
        </p:nvSpPr>
        <p:spPr>
          <a:xfrm>
            <a:off x="9052560" y="5175504"/>
            <a:ext cx="4617720" cy="1234440"/>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FFFFFF"/>
                </a:solidFill>
                <a:latin typeface="Arial"/>
              </a:rPr>
              <a:t>Tap dots → commit character</a:t>
            </a:r>
          </a:p>
          <a:p>
            <a:pPr algn="l">
              <a:lnSpc>
                <a:spcPct val="112000"/>
              </a:lnSpc>
              <a:spcBef>
                <a:spcPts val="0"/>
              </a:spcBef>
              <a:spcAft>
                <a:spcPts val="0"/>
              </a:spcAft>
            </a:pPr>
            <a:r>
              <a:rPr sz="1943" b="0">
                <a:solidFill>
                  <a:srgbClr val="FFFFFF"/>
                </a:solidFill>
                <a:latin typeface="Arial"/>
              </a:rPr>
              <a:t>Double-click → space</a:t>
            </a:r>
          </a:p>
          <a:p>
            <a:pPr algn="l">
              <a:lnSpc>
                <a:spcPct val="112000"/>
              </a:lnSpc>
              <a:spcBef>
                <a:spcPts val="0"/>
              </a:spcBef>
              <a:spcAft>
                <a:spcPts val="0"/>
              </a:spcAft>
            </a:pPr>
            <a:r>
              <a:rPr sz="1943" b="0">
                <a:solidFill>
                  <a:srgbClr val="FFFFFF"/>
                </a:solidFill>
                <a:latin typeface="Arial"/>
              </a:rPr>
              <a:t>Triple-click → local display</a:t>
            </a:r>
          </a:p>
        </p:txBody>
      </p:sp>
      <p:sp>
        <p:nvSpPr>
          <p:cNvPr id="59" name="TextBox 58"/>
          <p:cNvSpPr txBox="1"/>
          <p:nvPr/>
        </p:nvSpPr>
        <p:spPr>
          <a:xfrm>
            <a:off x="9052560" y="6565392"/>
            <a:ext cx="4590288" cy="292608"/>
          </a:xfrm>
          <a:prstGeom prst="rect">
            <a:avLst/>
          </a:prstGeom>
          <a:noFill/>
        </p:spPr>
        <p:txBody>
          <a:bodyPr wrap="square" lIns="0" rIns="0" tIns="0" bIns="0">
            <a:spAutoFit/>
          </a:bodyPr>
          <a:lstStyle/>
          <a:p>
            <a:pPr algn="l">
              <a:lnSpc>
                <a:spcPct val="112000"/>
              </a:lnSpc>
              <a:spcBef>
                <a:spcPts val="0"/>
              </a:spcBef>
              <a:spcAft>
                <a:spcPts val="0"/>
              </a:spcAft>
            </a:pPr>
            <a:r>
              <a:rPr sz="1368" b="0">
                <a:solidFill>
                  <a:srgbClr val="FFB17B"/>
                </a:solidFill>
                <a:latin typeface="Arial"/>
              </a:rPr>
              <a:t>Hub reply / avatar link: next integration</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B6C6CF"/>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B6C6CF"/>
                </a:solidFill>
                <a:latin typeface="Arial"/>
              </a:rPr>
              <a:t>06 / REAL-LIFE IMPACT</a:t>
            </a:r>
          </a:p>
        </p:txBody>
      </p:sp>
      <p:cxnSp>
        <p:nvCxnSpPr>
          <p:cNvPr id="4" name="Connector 3"/>
          <p:cNvCxnSpPr/>
          <p:nvPr/>
        </p:nvCxnSpPr>
        <p:spPr>
          <a:xfrm>
            <a:off x="694944" y="7443216"/>
            <a:ext cx="13240512" cy="0"/>
          </a:xfrm>
          <a:prstGeom prst="line">
            <a:avLst/>
          </a:prstGeom>
          <a:ln w="9144">
            <a:solidFill>
              <a:srgbClr val="3446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B6C6CF"/>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B6C6CF"/>
                </a:solidFill>
                <a:latin typeface="Arial"/>
              </a:rPr>
              <a:t>06</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77E1CB"/>
                </a:solidFill>
                <a:latin typeface="Arial"/>
              </a:rPr>
              <a:t>WHERE IT MATTERS</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FFFFFF"/>
                </a:solidFill>
                <a:latin typeface="Arial"/>
              </a:rPr>
              <a:t>Small moments.</a:t>
            </a:r>
          </a:p>
          <a:p>
            <a:pPr algn="l">
              <a:lnSpc>
                <a:spcPct val="112000"/>
              </a:lnSpc>
              <a:spcBef>
                <a:spcPts val="0"/>
              </a:spcBef>
              <a:spcAft>
                <a:spcPts val="0"/>
              </a:spcAft>
            </a:pPr>
            <a:r>
              <a:rPr sz="4608" b="1">
                <a:solidFill>
                  <a:srgbClr val="FFFFFF"/>
                </a:solidFill>
                <a:latin typeface="Arial"/>
              </a:rPr>
              <a:t>Real independence.</a:t>
            </a:r>
          </a:p>
        </p:txBody>
      </p:sp>
      <p:sp>
        <p:nvSpPr>
          <p:cNvPr id="9" name="Rounded Rectangle 8"/>
          <p:cNvSpPr/>
          <p:nvPr/>
        </p:nvSpPr>
        <p:spPr>
          <a:xfrm>
            <a:off x="731520" y="3246120"/>
            <a:ext cx="4206240" cy="3383280"/>
          </a:xfrm>
          <a:prstGeom prst="roundRect">
            <a:avLst>
              <a:gd name="adj" fmla="val 5405"/>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465576"/>
            <a:ext cx="3730752" cy="411480"/>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77E1CB"/>
                </a:solidFill>
                <a:latin typeface="Arial"/>
              </a:rPr>
              <a:t>CLASSROOM</a:t>
            </a:r>
          </a:p>
        </p:txBody>
      </p:sp>
      <p:sp>
        <p:nvSpPr>
          <p:cNvPr id="11" name="TextBox 10"/>
          <p:cNvSpPr txBox="1"/>
          <p:nvPr/>
        </p:nvSpPr>
        <p:spPr>
          <a:xfrm>
            <a:off x="969264" y="4069080"/>
            <a:ext cx="3730752" cy="822960"/>
          </a:xfrm>
          <a:prstGeom prst="rect">
            <a:avLst/>
          </a:prstGeom>
          <a:noFill/>
        </p:spPr>
        <p:txBody>
          <a:bodyPr wrap="square" lIns="0" rIns="0" tIns="0" bIns="0">
            <a:spAutoFit/>
          </a:bodyPr>
          <a:lstStyle/>
          <a:p>
            <a:pPr algn="l">
              <a:lnSpc>
                <a:spcPct val="112000"/>
              </a:lnSpc>
              <a:spcBef>
                <a:spcPts val="0"/>
              </a:spcBef>
              <a:spcAft>
                <a:spcPts val="0"/>
              </a:spcAft>
            </a:pPr>
            <a:r>
              <a:rPr sz="2448" b="1">
                <a:solidFill>
                  <a:srgbClr val="FFFFFF"/>
                </a:solidFill>
                <a:latin typeface="Arial"/>
              </a:rPr>
              <a:t>“Your turn.”</a:t>
            </a:r>
          </a:p>
        </p:txBody>
      </p:sp>
      <p:sp>
        <p:nvSpPr>
          <p:cNvPr id="12" name="TextBox 11"/>
          <p:cNvSpPr txBox="1"/>
          <p:nvPr/>
        </p:nvSpPr>
        <p:spPr>
          <a:xfrm>
            <a:off x="969264" y="5029200"/>
            <a:ext cx="3730752" cy="1417320"/>
          </a:xfrm>
          <a:prstGeom prst="rect">
            <a:avLst/>
          </a:prstGeom>
          <a:noFill/>
        </p:spPr>
        <p:txBody>
          <a:bodyPr wrap="square" lIns="0" rIns="0" tIns="0" bIns="0">
            <a:spAutoFit/>
          </a:bodyPr>
          <a:lstStyle/>
          <a:p>
            <a:pPr algn="l">
              <a:lnSpc>
                <a:spcPct val="112000"/>
              </a:lnSpc>
              <a:spcBef>
                <a:spcPts val="0"/>
              </a:spcBef>
              <a:spcAft>
                <a:spcPts val="0"/>
              </a:spcAft>
            </a:pPr>
            <a:r>
              <a:rPr sz="1800" b="0">
                <a:solidFill>
                  <a:srgbClr val="B6C6CF"/>
                </a:solidFill>
                <a:latin typeface="Arial"/>
              </a:rPr>
              <a:t>A gesture becomes tactile text</a:t>
            </a:r>
          </a:p>
          <a:p>
            <a:pPr algn="l">
              <a:lnSpc>
                <a:spcPct val="112000"/>
              </a:lnSpc>
              <a:spcBef>
                <a:spcPts val="0"/>
              </a:spcBef>
              <a:spcAft>
                <a:spcPts val="0"/>
              </a:spcAft>
            </a:pPr>
            <a:r>
              <a:rPr sz="1800" b="0">
                <a:solidFill>
                  <a:srgbClr val="B6C6CF"/>
                </a:solidFill>
                <a:latin typeface="Arial"/>
              </a:rPr>
              <a:t>for a blind classmate.</a:t>
            </a:r>
          </a:p>
        </p:txBody>
      </p:sp>
      <p:sp>
        <p:nvSpPr>
          <p:cNvPr id="13" name="Rounded Rectangle 12"/>
          <p:cNvSpPr/>
          <p:nvPr/>
        </p:nvSpPr>
        <p:spPr>
          <a:xfrm>
            <a:off x="5212080" y="3246120"/>
            <a:ext cx="4206240" cy="3383280"/>
          </a:xfrm>
          <a:prstGeom prst="roundRect">
            <a:avLst>
              <a:gd name="adj" fmla="val 5405"/>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9824" y="3465576"/>
            <a:ext cx="3730752" cy="411480"/>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FFB17B"/>
                </a:solidFill>
                <a:latin typeface="Arial"/>
              </a:rPr>
              <a:t>HOME</a:t>
            </a:r>
          </a:p>
        </p:txBody>
      </p:sp>
      <p:sp>
        <p:nvSpPr>
          <p:cNvPr id="15" name="TextBox 14"/>
          <p:cNvSpPr txBox="1"/>
          <p:nvPr/>
        </p:nvSpPr>
        <p:spPr>
          <a:xfrm>
            <a:off x="5449824" y="4069080"/>
            <a:ext cx="3730752" cy="822960"/>
          </a:xfrm>
          <a:prstGeom prst="rect">
            <a:avLst/>
          </a:prstGeom>
          <a:noFill/>
        </p:spPr>
        <p:txBody>
          <a:bodyPr wrap="square" lIns="0" rIns="0" tIns="0" bIns="0">
            <a:spAutoFit/>
          </a:bodyPr>
          <a:lstStyle/>
          <a:p>
            <a:pPr algn="l">
              <a:lnSpc>
                <a:spcPct val="112000"/>
              </a:lnSpc>
              <a:spcBef>
                <a:spcPts val="0"/>
              </a:spcBef>
              <a:spcAft>
                <a:spcPts val="0"/>
              </a:spcAft>
            </a:pPr>
            <a:r>
              <a:rPr sz="2448" b="1">
                <a:solidFill>
                  <a:srgbClr val="FFFFFF"/>
                </a:solidFill>
                <a:latin typeface="Arial"/>
              </a:rPr>
              <a:t>“I’m here.”</a:t>
            </a:r>
          </a:p>
        </p:txBody>
      </p:sp>
      <p:sp>
        <p:nvSpPr>
          <p:cNvPr id="16" name="TextBox 15"/>
          <p:cNvSpPr txBox="1"/>
          <p:nvPr/>
        </p:nvSpPr>
        <p:spPr>
          <a:xfrm>
            <a:off x="5449824" y="5029200"/>
            <a:ext cx="3730752" cy="1417320"/>
          </a:xfrm>
          <a:prstGeom prst="rect">
            <a:avLst/>
          </a:prstGeom>
          <a:noFill/>
        </p:spPr>
        <p:txBody>
          <a:bodyPr wrap="square" lIns="0" rIns="0" tIns="0" bIns="0">
            <a:spAutoFit/>
          </a:bodyPr>
          <a:lstStyle/>
          <a:p>
            <a:pPr algn="l">
              <a:lnSpc>
                <a:spcPct val="112000"/>
              </a:lnSpc>
              <a:spcBef>
                <a:spcPts val="0"/>
              </a:spcBef>
              <a:spcAft>
                <a:spcPts val="0"/>
              </a:spcAft>
            </a:pPr>
            <a:r>
              <a:rPr sz="1800" b="0">
                <a:solidFill>
                  <a:srgbClr val="B6C6CF"/>
                </a:solidFill>
                <a:latin typeface="Arial"/>
              </a:rPr>
              <a:t>Family members exchange</a:t>
            </a:r>
          </a:p>
          <a:p>
            <a:pPr algn="l">
              <a:lnSpc>
                <a:spcPct val="112000"/>
              </a:lnSpc>
              <a:spcBef>
                <a:spcPts val="0"/>
              </a:spcBef>
              <a:spcAft>
                <a:spcPts val="0"/>
              </a:spcAft>
            </a:pPr>
            <a:r>
              <a:rPr sz="1800" b="0">
                <a:solidFill>
                  <a:srgbClr val="B6C6CF"/>
                </a:solidFill>
                <a:latin typeface="Arial"/>
              </a:rPr>
              <a:t>messages in accessible formats.</a:t>
            </a:r>
          </a:p>
        </p:txBody>
      </p:sp>
      <p:sp>
        <p:nvSpPr>
          <p:cNvPr id="17" name="Rounded Rectangle 16"/>
          <p:cNvSpPr/>
          <p:nvPr/>
        </p:nvSpPr>
        <p:spPr>
          <a:xfrm>
            <a:off x="9692640" y="3246120"/>
            <a:ext cx="4206240" cy="3383280"/>
          </a:xfrm>
          <a:prstGeom prst="roundRect">
            <a:avLst>
              <a:gd name="adj" fmla="val 5405"/>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0384" y="3465576"/>
            <a:ext cx="3730752" cy="411480"/>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C9B9FF"/>
                </a:solidFill>
                <a:latin typeface="Arial"/>
              </a:rPr>
              <a:t>CARE / PROPOSED</a:t>
            </a:r>
          </a:p>
        </p:txBody>
      </p:sp>
      <p:sp>
        <p:nvSpPr>
          <p:cNvPr id="19" name="TextBox 18"/>
          <p:cNvSpPr txBox="1"/>
          <p:nvPr/>
        </p:nvSpPr>
        <p:spPr>
          <a:xfrm>
            <a:off x="9930384" y="4069080"/>
            <a:ext cx="3730752" cy="822960"/>
          </a:xfrm>
          <a:prstGeom prst="rect">
            <a:avLst/>
          </a:prstGeom>
          <a:noFill/>
        </p:spPr>
        <p:txBody>
          <a:bodyPr wrap="square" lIns="0" rIns="0" tIns="0" bIns="0">
            <a:spAutoFit/>
          </a:bodyPr>
          <a:lstStyle/>
          <a:p>
            <a:pPr algn="l">
              <a:lnSpc>
                <a:spcPct val="112000"/>
              </a:lnSpc>
              <a:spcBef>
                <a:spcPts val="0"/>
              </a:spcBef>
              <a:spcAft>
                <a:spcPts val="0"/>
              </a:spcAft>
            </a:pPr>
            <a:r>
              <a:rPr sz="2448" b="1">
                <a:solidFill>
                  <a:srgbClr val="FFFFFF"/>
                </a:solidFill>
                <a:latin typeface="Arial"/>
              </a:rPr>
              <a:t>“Water, please.”</a:t>
            </a:r>
          </a:p>
        </p:txBody>
      </p:sp>
      <p:sp>
        <p:nvSpPr>
          <p:cNvPr id="20" name="TextBox 19"/>
          <p:cNvSpPr txBox="1"/>
          <p:nvPr/>
        </p:nvSpPr>
        <p:spPr>
          <a:xfrm>
            <a:off x="9930384" y="5029200"/>
            <a:ext cx="3730752" cy="1417320"/>
          </a:xfrm>
          <a:prstGeom prst="rect">
            <a:avLst/>
          </a:prstGeom>
          <a:noFill/>
        </p:spPr>
        <p:txBody>
          <a:bodyPr wrap="square" lIns="0" rIns="0" tIns="0" bIns="0">
            <a:spAutoFit/>
          </a:bodyPr>
          <a:lstStyle/>
          <a:p>
            <a:pPr algn="l">
              <a:lnSpc>
                <a:spcPct val="112000"/>
              </a:lnSpc>
              <a:spcBef>
                <a:spcPts val="0"/>
              </a:spcBef>
              <a:spcAft>
                <a:spcPts val="0"/>
              </a:spcAft>
            </a:pPr>
            <a:r>
              <a:rPr sz="1800" b="0">
                <a:solidFill>
                  <a:srgbClr val="B6C6CF"/>
                </a:solidFill>
                <a:latin typeface="Arial"/>
              </a:rPr>
              <a:t>A gaze keyboard composes</a:t>
            </a:r>
          </a:p>
          <a:p>
            <a:pPr algn="l">
              <a:lnSpc>
                <a:spcPct val="112000"/>
              </a:lnSpc>
              <a:spcBef>
                <a:spcPts val="0"/>
              </a:spcBef>
              <a:spcAft>
                <a:spcPts val="0"/>
              </a:spcAft>
            </a:pPr>
            <a:r>
              <a:rPr sz="1800" b="0">
                <a:solidFill>
                  <a:srgbClr val="B6C6CF"/>
                </a:solidFill>
                <a:latin typeface="Arial"/>
              </a:rPr>
              <a:t>a request without hand typing.</a:t>
            </a:r>
          </a:p>
        </p:txBody>
      </p:sp>
      <p:sp>
        <p:nvSpPr>
          <p:cNvPr id="21" name="TextBox 20"/>
          <p:cNvSpPr txBox="1"/>
          <p:nvPr/>
        </p:nvSpPr>
        <p:spPr>
          <a:xfrm>
            <a:off x="740664" y="6940296"/>
            <a:ext cx="13167360" cy="310896"/>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B6C6CF"/>
                </a:solidFill>
                <a:latin typeface="Arial"/>
              </a:rPr>
              <a:t>Designed for Deaf, blind, speech-impaired and motor-impaired users, plus their communication partners.</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526775"/>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526775"/>
                </a:solidFill>
                <a:latin typeface="Arial"/>
              </a:rPr>
              <a:t>07 / LIVE DEMO HANDOFF</a:t>
            </a:r>
          </a:p>
        </p:txBody>
      </p:sp>
      <p:cxnSp>
        <p:nvCxnSpPr>
          <p:cNvPr id="4" name="Connector 3"/>
          <p:cNvCxnSpPr/>
          <p:nvPr/>
        </p:nvCxnSpPr>
        <p:spPr>
          <a:xfrm>
            <a:off x="694944" y="7443216"/>
            <a:ext cx="13240512" cy="0"/>
          </a:xfrm>
          <a:prstGeom prst="line">
            <a:avLst/>
          </a:prstGeom>
          <a:ln w="9144">
            <a:solidFill>
              <a:srgbClr val="D7DD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26775"/>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26775"/>
                </a:solidFill>
                <a:latin typeface="Arial"/>
              </a:rPr>
              <a:t>07</a:t>
            </a:r>
          </a:p>
        </p:txBody>
      </p:sp>
      <p:sp>
        <p:nvSpPr>
          <p:cNvPr id="7" name="TextBox 6"/>
          <p:cNvSpPr txBox="1"/>
          <p:nvPr/>
        </p:nvSpPr>
        <p:spPr>
          <a:xfrm>
            <a:off x="731520" y="1325880"/>
            <a:ext cx="11430000" cy="356616"/>
          </a:xfrm>
          <a:prstGeom prst="rect">
            <a:avLst/>
          </a:prstGeom>
          <a:noFill/>
        </p:spPr>
        <p:txBody>
          <a:bodyPr wrap="square" lIns="0" rIns="0" tIns="0" bIns="0">
            <a:spAutoFit/>
          </a:bodyPr>
          <a:lstStyle/>
          <a:p>
            <a:pPr algn="l">
              <a:lnSpc>
                <a:spcPct val="112000"/>
              </a:lnSpc>
              <a:spcBef>
                <a:spcPts val="0"/>
              </a:spcBef>
              <a:spcAft>
                <a:spcPts val="0"/>
              </a:spcAft>
            </a:pPr>
            <a:r>
              <a:rPr sz="1512" b="1">
                <a:solidFill>
                  <a:srgbClr val="147C6F"/>
                </a:solidFill>
                <a:latin typeface="Arial"/>
              </a:rPr>
              <a:t>THE MOST IMPORTANT PART</a:t>
            </a:r>
          </a:p>
        </p:txBody>
      </p:sp>
      <p:sp>
        <p:nvSpPr>
          <p:cNvPr id="8" name="TextBox 7"/>
          <p:cNvSpPr txBox="1"/>
          <p:nvPr/>
        </p:nvSpPr>
        <p:spPr>
          <a:xfrm>
            <a:off x="685800" y="2084831"/>
            <a:ext cx="13075920" cy="1837943"/>
          </a:xfrm>
          <a:prstGeom prst="rect">
            <a:avLst/>
          </a:prstGeom>
          <a:noFill/>
        </p:spPr>
        <p:txBody>
          <a:bodyPr wrap="square" lIns="0" rIns="0" tIns="0" bIns="0">
            <a:spAutoFit/>
          </a:bodyPr>
          <a:lstStyle/>
          <a:p>
            <a:pPr algn="l">
              <a:lnSpc>
                <a:spcPct val="112000"/>
              </a:lnSpc>
              <a:spcBef>
                <a:spcPts val="0"/>
              </a:spcBef>
              <a:spcAft>
                <a:spcPts val="0"/>
              </a:spcAft>
            </a:pPr>
            <a:r>
              <a:rPr sz="6336" b="1">
                <a:solidFill>
                  <a:srgbClr val="152C3B"/>
                </a:solidFill>
                <a:latin typeface="Arial"/>
              </a:rPr>
              <a:t>Now, follow</a:t>
            </a:r>
          </a:p>
          <a:p>
            <a:pPr algn="l">
              <a:lnSpc>
                <a:spcPct val="112000"/>
              </a:lnSpc>
              <a:spcBef>
                <a:spcPts val="0"/>
              </a:spcBef>
              <a:spcAft>
                <a:spcPts val="0"/>
              </a:spcAft>
            </a:pPr>
            <a:r>
              <a:rPr sz="6336" b="1">
                <a:solidFill>
                  <a:srgbClr val="152C3B"/>
                </a:solidFill>
                <a:latin typeface="Arial"/>
              </a:rPr>
              <a:t>one message.</a:t>
            </a:r>
          </a:p>
        </p:txBody>
      </p:sp>
      <p:sp>
        <p:nvSpPr>
          <p:cNvPr id="9" name="TextBox 8"/>
          <p:cNvSpPr txBox="1"/>
          <p:nvPr/>
        </p:nvSpPr>
        <p:spPr>
          <a:xfrm>
            <a:off x="749808" y="4846320"/>
            <a:ext cx="3886200" cy="594360"/>
          </a:xfrm>
          <a:prstGeom prst="rect">
            <a:avLst/>
          </a:prstGeom>
          <a:noFill/>
        </p:spPr>
        <p:txBody>
          <a:bodyPr wrap="square" lIns="0" rIns="0" tIns="0" bIns="0">
            <a:spAutoFit/>
          </a:bodyPr>
          <a:lstStyle/>
          <a:p>
            <a:pPr algn="l">
              <a:lnSpc>
                <a:spcPct val="112000"/>
              </a:lnSpc>
              <a:spcBef>
                <a:spcPts val="0"/>
              </a:spcBef>
              <a:spcAft>
                <a:spcPts val="0"/>
              </a:spcAft>
            </a:pPr>
            <a:r>
              <a:rPr sz="3456" b="1">
                <a:solidFill>
                  <a:srgbClr val="147C6F"/>
                </a:solidFill>
                <a:latin typeface="Arial"/>
              </a:rPr>
              <a:t>01</a:t>
            </a:r>
          </a:p>
        </p:txBody>
      </p:sp>
      <p:sp>
        <p:nvSpPr>
          <p:cNvPr id="10" name="TextBox 9"/>
          <p:cNvSpPr txBox="1"/>
          <p:nvPr/>
        </p:nvSpPr>
        <p:spPr>
          <a:xfrm>
            <a:off x="749808" y="5678424"/>
            <a:ext cx="3931920" cy="685800"/>
          </a:xfrm>
          <a:prstGeom prst="rect">
            <a:avLst/>
          </a:prstGeom>
          <a:noFill/>
        </p:spPr>
        <p:txBody>
          <a:bodyPr wrap="square" lIns="0" rIns="0" tIns="0" bIns="0">
            <a:spAutoFit/>
          </a:bodyPr>
          <a:lstStyle/>
          <a:p>
            <a:pPr algn="l">
              <a:lnSpc>
                <a:spcPct val="112000"/>
              </a:lnSpc>
              <a:spcBef>
                <a:spcPts val="0"/>
              </a:spcBef>
              <a:spcAft>
                <a:spcPts val="0"/>
              </a:spcAft>
            </a:pPr>
            <a:r>
              <a:rPr sz="2448" b="1">
                <a:solidFill>
                  <a:srgbClr val="152C3B"/>
                </a:solidFill>
                <a:latin typeface="Arial"/>
              </a:rPr>
              <a:t>Move a hand</a:t>
            </a:r>
          </a:p>
        </p:txBody>
      </p:sp>
      <p:sp>
        <p:nvSpPr>
          <p:cNvPr id="11" name="TextBox 10"/>
          <p:cNvSpPr txBox="1"/>
          <p:nvPr/>
        </p:nvSpPr>
        <p:spPr>
          <a:xfrm>
            <a:off x="5184648" y="4846320"/>
            <a:ext cx="3886200" cy="594360"/>
          </a:xfrm>
          <a:prstGeom prst="rect">
            <a:avLst/>
          </a:prstGeom>
          <a:noFill/>
        </p:spPr>
        <p:txBody>
          <a:bodyPr wrap="square" lIns="0" rIns="0" tIns="0" bIns="0">
            <a:spAutoFit/>
          </a:bodyPr>
          <a:lstStyle/>
          <a:p>
            <a:pPr algn="l">
              <a:lnSpc>
                <a:spcPct val="112000"/>
              </a:lnSpc>
              <a:spcBef>
                <a:spcPts val="0"/>
              </a:spcBef>
              <a:spcAft>
                <a:spcPts val="0"/>
              </a:spcAft>
            </a:pPr>
            <a:r>
              <a:rPr sz="3456" b="1">
                <a:solidFill>
                  <a:srgbClr val="147C6F"/>
                </a:solidFill>
                <a:latin typeface="Arial"/>
              </a:rPr>
              <a:t>02</a:t>
            </a:r>
          </a:p>
        </p:txBody>
      </p:sp>
      <p:sp>
        <p:nvSpPr>
          <p:cNvPr id="12" name="TextBox 11"/>
          <p:cNvSpPr txBox="1"/>
          <p:nvPr/>
        </p:nvSpPr>
        <p:spPr>
          <a:xfrm>
            <a:off x="5184648" y="5678424"/>
            <a:ext cx="3931920" cy="685800"/>
          </a:xfrm>
          <a:prstGeom prst="rect">
            <a:avLst/>
          </a:prstGeom>
          <a:noFill/>
        </p:spPr>
        <p:txBody>
          <a:bodyPr wrap="square" lIns="0" rIns="0" tIns="0" bIns="0">
            <a:spAutoFit/>
          </a:bodyPr>
          <a:lstStyle/>
          <a:p>
            <a:pPr algn="l">
              <a:lnSpc>
                <a:spcPct val="112000"/>
              </a:lnSpc>
              <a:spcBef>
                <a:spcPts val="0"/>
              </a:spcBef>
              <a:spcAft>
                <a:spcPts val="0"/>
              </a:spcAft>
            </a:pPr>
            <a:r>
              <a:rPr sz="2448" b="1">
                <a:solidFill>
                  <a:srgbClr val="152C3B"/>
                </a:solidFill>
                <a:latin typeface="Arial"/>
              </a:rPr>
              <a:t>Watch the Pi route it</a:t>
            </a:r>
          </a:p>
        </p:txBody>
      </p:sp>
      <p:sp>
        <p:nvSpPr>
          <p:cNvPr id="13" name="TextBox 12"/>
          <p:cNvSpPr txBox="1"/>
          <p:nvPr/>
        </p:nvSpPr>
        <p:spPr>
          <a:xfrm>
            <a:off x="9619488" y="4846320"/>
            <a:ext cx="3886200" cy="594360"/>
          </a:xfrm>
          <a:prstGeom prst="rect">
            <a:avLst/>
          </a:prstGeom>
          <a:noFill/>
        </p:spPr>
        <p:txBody>
          <a:bodyPr wrap="square" lIns="0" rIns="0" tIns="0" bIns="0">
            <a:spAutoFit/>
          </a:bodyPr>
          <a:lstStyle/>
          <a:p>
            <a:pPr algn="l">
              <a:lnSpc>
                <a:spcPct val="112000"/>
              </a:lnSpc>
              <a:spcBef>
                <a:spcPts val="0"/>
              </a:spcBef>
              <a:spcAft>
                <a:spcPts val="0"/>
              </a:spcAft>
            </a:pPr>
            <a:r>
              <a:rPr sz="3456" b="1">
                <a:solidFill>
                  <a:srgbClr val="147C6F"/>
                </a:solidFill>
                <a:latin typeface="Arial"/>
              </a:rPr>
              <a:t>03</a:t>
            </a:r>
          </a:p>
        </p:txBody>
      </p:sp>
      <p:sp>
        <p:nvSpPr>
          <p:cNvPr id="14" name="TextBox 13"/>
          <p:cNvSpPr txBox="1"/>
          <p:nvPr/>
        </p:nvSpPr>
        <p:spPr>
          <a:xfrm>
            <a:off x="9619488" y="5678424"/>
            <a:ext cx="3931920" cy="685800"/>
          </a:xfrm>
          <a:prstGeom prst="rect">
            <a:avLst/>
          </a:prstGeom>
          <a:noFill/>
        </p:spPr>
        <p:txBody>
          <a:bodyPr wrap="square" lIns="0" rIns="0" tIns="0" bIns="0">
            <a:spAutoFit/>
          </a:bodyPr>
          <a:lstStyle/>
          <a:p>
            <a:pPr algn="l">
              <a:lnSpc>
                <a:spcPct val="112000"/>
              </a:lnSpc>
              <a:spcBef>
                <a:spcPts val="0"/>
              </a:spcBef>
              <a:spcAft>
                <a:spcPts val="0"/>
              </a:spcAft>
            </a:pPr>
            <a:r>
              <a:rPr sz="2448" b="1">
                <a:solidFill>
                  <a:srgbClr val="152C3B"/>
                </a:solidFill>
                <a:latin typeface="Arial"/>
              </a:rPr>
              <a:t>Feel the Braille</a:t>
            </a:r>
          </a:p>
        </p:txBody>
      </p:sp>
      <p:sp>
        <p:nvSpPr>
          <p:cNvPr id="15" name="TextBox 14"/>
          <p:cNvSpPr txBox="1"/>
          <p:nvPr/>
        </p:nvSpPr>
        <p:spPr>
          <a:xfrm>
            <a:off x="740664" y="6867144"/>
            <a:ext cx="12801600" cy="338328"/>
          </a:xfrm>
          <a:prstGeom prst="rect">
            <a:avLst/>
          </a:prstGeom>
          <a:noFill/>
        </p:spPr>
        <p:txBody>
          <a:bodyPr wrap="square" lIns="0" rIns="0" tIns="0" bIns="0">
            <a:spAutoFit/>
          </a:bodyPr>
          <a:lstStyle/>
          <a:p>
            <a:pPr algn="l">
              <a:lnSpc>
                <a:spcPct val="112000"/>
              </a:lnSpc>
              <a:spcBef>
                <a:spcPts val="0"/>
              </a:spcBef>
              <a:spcAft>
                <a:spcPts val="0"/>
              </a:spcAft>
            </a:pPr>
            <a:r>
              <a:rPr sz="1872" b="1">
                <a:solidFill>
                  <a:srgbClr val="526775"/>
                </a:solidFill>
                <a:latin typeface="Arial"/>
              </a:rPr>
              <a:t>LIVE HARDWARE DEMONSTRATION →</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B6C6CF"/>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B6C6CF"/>
                </a:solidFill>
                <a:latin typeface="Arial"/>
              </a:rPr>
              <a:t>08 / COST EFFECTIVENESS</a:t>
            </a:r>
          </a:p>
        </p:txBody>
      </p:sp>
      <p:cxnSp>
        <p:nvCxnSpPr>
          <p:cNvPr id="4" name="Connector 3"/>
          <p:cNvCxnSpPr/>
          <p:nvPr/>
        </p:nvCxnSpPr>
        <p:spPr>
          <a:xfrm>
            <a:off x="694944" y="7443216"/>
            <a:ext cx="13240512" cy="0"/>
          </a:xfrm>
          <a:prstGeom prst="line">
            <a:avLst/>
          </a:prstGeom>
          <a:ln w="9144">
            <a:solidFill>
              <a:srgbClr val="3446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B6C6CF"/>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B6C6CF"/>
                </a:solidFill>
                <a:latin typeface="Arial"/>
              </a:rPr>
              <a:t>08</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77E1CB"/>
                </a:solidFill>
                <a:latin typeface="Arial"/>
              </a:rPr>
              <a:t>LOW-COST DESIGN / ALL VALUES IN BDT</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FFFFFF"/>
                </a:solidFill>
                <a:latin typeface="Arial"/>
              </a:rPr>
              <a:t>Built for a local budget.</a:t>
            </a:r>
          </a:p>
        </p:txBody>
      </p:sp>
      <p:sp>
        <p:nvSpPr>
          <p:cNvPr id="9" name="Rounded Rectangle 8"/>
          <p:cNvSpPr/>
          <p:nvPr/>
        </p:nvSpPr>
        <p:spPr>
          <a:xfrm>
            <a:off x="731520" y="2770632"/>
            <a:ext cx="4206240" cy="1554480"/>
          </a:xfrm>
          <a:prstGeom prst="roundRect">
            <a:avLst>
              <a:gd name="adj" fmla="val 11764"/>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926080"/>
            <a:ext cx="3813048" cy="274320"/>
          </a:xfrm>
          <a:prstGeom prst="rect">
            <a:avLst/>
          </a:prstGeom>
          <a:noFill/>
        </p:spPr>
        <p:txBody>
          <a:bodyPr wrap="square" lIns="0" rIns="0" tIns="0" bIns="0">
            <a:spAutoFit/>
          </a:bodyPr>
          <a:lstStyle/>
          <a:p>
            <a:pPr algn="l">
              <a:lnSpc>
                <a:spcPct val="112000"/>
              </a:lnSpc>
              <a:spcBef>
                <a:spcPts val="0"/>
              </a:spcBef>
              <a:spcAft>
                <a:spcPts val="0"/>
              </a:spcAft>
            </a:pPr>
            <a:r>
              <a:rPr sz="1512" b="1">
                <a:solidFill>
                  <a:srgbClr val="77E1CB"/>
                </a:solidFill>
                <a:latin typeface="Arial"/>
              </a:rPr>
              <a:t>GLOVE</a:t>
            </a:r>
          </a:p>
        </p:txBody>
      </p:sp>
      <p:sp>
        <p:nvSpPr>
          <p:cNvPr id="11" name="TextBox 10"/>
          <p:cNvSpPr txBox="1"/>
          <p:nvPr/>
        </p:nvSpPr>
        <p:spPr>
          <a:xfrm>
            <a:off x="923544" y="3264408"/>
            <a:ext cx="3840480" cy="594360"/>
          </a:xfrm>
          <a:prstGeom prst="rect">
            <a:avLst/>
          </a:prstGeom>
          <a:noFill/>
        </p:spPr>
        <p:txBody>
          <a:bodyPr wrap="square" lIns="0" rIns="0" tIns="0" bIns="0">
            <a:spAutoFit/>
          </a:bodyPr>
          <a:lstStyle/>
          <a:p>
            <a:pPr algn="l">
              <a:lnSpc>
                <a:spcPct val="112000"/>
              </a:lnSpc>
              <a:spcBef>
                <a:spcPts val="0"/>
              </a:spcBef>
              <a:spcAft>
                <a:spcPts val="0"/>
              </a:spcAft>
            </a:pPr>
            <a:r>
              <a:rPr sz="3528" b="1">
                <a:solidFill>
                  <a:srgbClr val="FFFFFF"/>
                </a:solidFill>
                <a:latin typeface="Arial"/>
              </a:rPr>
              <a:t>৳4,500</a:t>
            </a:r>
          </a:p>
        </p:txBody>
      </p:sp>
      <p:sp>
        <p:nvSpPr>
          <p:cNvPr id="12" name="TextBox 11"/>
          <p:cNvSpPr txBox="1"/>
          <p:nvPr/>
        </p:nvSpPr>
        <p:spPr>
          <a:xfrm>
            <a:off x="950976" y="3950208"/>
            <a:ext cx="3813048" cy="29260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B6C6CF"/>
                </a:solidFill>
                <a:latin typeface="Arial"/>
              </a:rPr>
              <a:t>Estimated range: ৳4,000–5,000</a:t>
            </a:r>
          </a:p>
        </p:txBody>
      </p:sp>
      <p:sp>
        <p:nvSpPr>
          <p:cNvPr id="13" name="Rounded Rectangle 12"/>
          <p:cNvSpPr/>
          <p:nvPr/>
        </p:nvSpPr>
        <p:spPr>
          <a:xfrm>
            <a:off x="5202936" y="2770632"/>
            <a:ext cx="4206240" cy="1554480"/>
          </a:xfrm>
          <a:prstGeom prst="roundRect">
            <a:avLst>
              <a:gd name="adj" fmla="val 11764"/>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926080"/>
            <a:ext cx="3813048" cy="274320"/>
          </a:xfrm>
          <a:prstGeom prst="rect">
            <a:avLst/>
          </a:prstGeom>
          <a:noFill/>
        </p:spPr>
        <p:txBody>
          <a:bodyPr wrap="square" lIns="0" rIns="0" tIns="0" bIns="0">
            <a:spAutoFit/>
          </a:bodyPr>
          <a:lstStyle/>
          <a:p>
            <a:pPr algn="l">
              <a:lnSpc>
                <a:spcPct val="112000"/>
              </a:lnSpc>
              <a:spcBef>
                <a:spcPts val="0"/>
              </a:spcBef>
              <a:spcAft>
                <a:spcPts val="0"/>
              </a:spcAft>
            </a:pPr>
            <a:r>
              <a:rPr sz="1512" b="1">
                <a:solidFill>
                  <a:srgbClr val="FFB17B"/>
                </a:solidFill>
                <a:latin typeface="Arial"/>
              </a:rPr>
              <a:t>4-CELL BRAILLE</a:t>
            </a:r>
          </a:p>
        </p:txBody>
      </p:sp>
      <p:sp>
        <p:nvSpPr>
          <p:cNvPr id="15" name="TextBox 14"/>
          <p:cNvSpPr txBox="1"/>
          <p:nvPr/>
        </p:nvSpPr>
        <p:spPr>
          <a:xfrm>
            <a:off x="5394960" y="3264408"/>
            <a:ext cx="3840480" cy="594360"/>
          </a:xfrm>
          <a:prstGeom prst="rect">
            <a:avLst/>
          </a:prstGeom>
          <a:noFill/>
        </p:spPr>
        <p:txBody>
          <a:bodyPr wrap="square" lIns="0" rIns="0" tIns="0" bIns="0">
            <a:spAutoFit/>
          </a:bodyPr>
          <a:lstStyle/>
          <a:p>
            <a:pPr algn="l">
              <a:lnSpc>
                <a:spcPct val="112000"/>
              </a:lnSpc>
              <a:spcBef>
                <a:spcPts val="0"/>
              </a:spcBef>
              <a:spcAft>
                <a:spcPts val="0"/>
              </a:spcAft>
            </a:pPr>
            <a:r>
              <a:rPr sz="3528" b="1">
                <a:solidFill>
                  <a:srgbClr val="FFFFFF"/>
                </a:solidFill>
                <a:latin typeface="Arial"/>
              </a:rPr>
              <a:t>৳3,500</a:t>
            </a:r>
          </a:p>
        </p:txBody>
      </p:sp>
      <p:sp>
        <p:nvSpPr>
          <p:cNvPr id="16" name="TextBox 15"/>
          <p:cNvSpPr txBox="1"/>
          <p:nvPr/>
        </p:nvSpPr>
        <p:spPr>
          <a:xfrm>
            <a:off x="5422392" y="3950208"/>
            <a:ext cx="3813048" cy="29260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B6C6CF"/>
                </a:solidFill>
                <a:latin typeface="Arial"/>
              </a:rPr>
              <a:t>Target: servos + keys + mechanics</a:t>
            </a:r>
          </a:p>
        </p:txBody>
      </p:sp>
      <p:sp>
        <p:nvSpPr>
          <p:cNvPr id="17" name="Rounded Rectangle 16"/>
          <p:cNvSpPr/>
          <p:nvPr/>
        </p:nvSpPr>
        <p:spPr>
          <a:xfrm>
            <a:off x="9674352" y="2770632"/>
            <a:ext cx="4206240" cy="1554480"/>
          </a:xfrm>
          <a:prstGeom prst="roundRect">
            <a:avLst>
              <a:gd name="adj" fmla="val 11764"/>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93808" y="2926080"/>
            <a:ext cx="3813048" cy="274320"/>
          </a:xfrm>
          <a:prstGeom prst="rect">
            <a:avLst/>
          </a:prstGeom>
          <a:noFill/>
        </p:spPr>
        <p:txBody>
          <a:bodyPr wrap="square" lIns="0" rIns="0" tIns="0" bIns="0">
            <a:spAutoFit/>
          </a:bodyPr>
          <a:lstStyle/>
          <a:p>
            <a:pPr algn="l">
              <a:lnSpc>
                <a:spcPct val="112000"/>
              </a:lnSpc>
              <a:spcBef>
                <a:spcPts val="0"/>
              </a:spcBef>
              <a:spcAft>
                <a:spcPts val="0"/>
              </a:spcAft>
            </a:pPr>
            <a:r>
              <a:rPr sz="1512" b="1">
                <a:solidFill>
                  <a:srgbClr val="C9B9FF"/>
                </a:solidFill>
                <a:latin typeface="Arial"/>
              </a:rPr>
              <a:t>VOICE MODULE</a:t>
            </a:r>
          </a:p>
        </p:txBody>
      </p:sp>
      <p:sp>
        <p:nvSpPr>
          <p:cNvPr id="19" name="TextBox 18"/>
          <p:cNvSpPr txBox="1"/>
          <p:nvPr/>
        </p:nvSpPr>
        <p:spPr>
          <a:xfrm>
            <a:off x="9866376" y="3264408"/>
            <a:ext cx="3840480" cy="594360"/>
          </a:xfrm>
          <a:prstGeom prst="rect">
            <a:avLst/>
          </a:prstGeom>
          <a:noFill/>
        </p:spPr>
        <p:txBody>
          <a:bodyPr wrap="square" lIns="0" rIns="0" tIns="0" bIns="0">
            <a:spAutoFit/>
          </a:bodyPr>
          <a:lstStyle/>
          <a:p>
            <a:pPr algn="l">
              <a:lnSpc>
                <a:spcPct val="112000"/>
              </a:lnSpc>
              <a:spcBef>
                <a:spcPts val="0"/>
              </a:spcBef>
              <a:spcAft>
                <a:spcPts val="0"/>
              </a:spcAft>
            </a:pPr>
            <a:r>
              <a:rPr sz="3528" b="1">
                <a:solidFill>
                  <a:srgbClr val="FFFFFF"/>
                </a:solidFill>
                <a:latin typeface="Arial"/>
              </a:rPr>
              <a:t>৳1,500</a:t>
            </a:r>
          </a:p>
        </p:txBody>
      </p:sp>
      <p:sp>
        <p:nvSpPr>
          <p:cNvPr id="20" name="TextBox 19"/>
          <p:cNvSpPr txBox="1"/>
          <p:nvPr/>
        </p:nvSpPr>
        <p:spPr>
          <a:xfrm>
            <a:off x="9893808" y="3950208"/>
            <a:ext cx="3813048" cy="29260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B6C6CF"/>
                </a:solidFill>
                <a:latin typeface="Arial"/>
              </a:rPr>
              <a:t>Target: mic + speaker + ESP32</a:t>
            </a:r>
          </a:p>
        </p:txBody>
      </p:sp>
      <p:sp>
        <p:nvSpPr>
          <p:cNvPr id="21" name="Rounded Rectangle 20"/>
          <p:cNvSpPr/>
          <p:nvPr/>
        </p:nvSpPr>
        <p:spPr>
          <a:xfrm>
            <a:off x="731520" y="4489704"/>
            <a:ext cx="4206240" cy="1554480"/>
          </a:xfrm>
          <a:prstGeom prst="roundRect">
            <a:avLst>
              <a:gd name="adj" fmla="val 11764"/>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 y="4645152"/>
            <a:ext cx="3813048" cy="274320"/>
          </a:xfrm>
          <a:prstGeom prst="rect">
            <a:avLst/>
          </a:prstGeom>
          <a:noFill/>
        </p:spPr>
        <p:txBody>
          <a:bodyPr wrap="square" lIns="0" rIns="0" tIns="0" bIns="0">
            <a:spAutoFit/>
          </a:bodyPr>
          <a:lstStyle/>
          <a:p>
            <a:pPr algn="l">
              <a:lnSpc>
                <a:spcPct val="112000"/>
              </a:lnSpc>
              <a:spcBef>
                <a:spcPts val="0"/>
              </a:spcBef>
              <a:spcAft>
                <a:spcPts val="0"/>
              </a:spcAft>
            </a:pPr>
            <a:r>
              <a:rPr sz="1512" b="1">
                <a:solidFill>
                  <a:srgbClr val="77E1CB"/>
                </a:solidFill>
                <a:latin typeface="Arial"/>
              </a:rPr>
              <a:t>GAZE INTERFACE</a:t>
            </a:r>
          </a:p>
        </p:txBody>
      </p:sp>
      <p:sp>
        <p:nvSpPr>
          <p:cNvPr id="23" name="TextBox 22"/>
          <p:cNvSpPr txBox="1"/>
          <p:nvPr/>
        </p:nvSpPr>
        <p:spPr>
          <a:xfrm>
            <a:off x="923544" y="4983480"/>
            <a:ext cx="3840480" cy="594360"/>
          </a:xfrm>
          <a:prstGeom prst="rect">
            <a:avLst/>
          </a:prstGeom>
          <a:noFill/>
        </p:spPr>
        <p:txBody>
          <a:bodyPr wrap="square" lIns="0" rIns="0" tIns="0" bIns="0">
            <a:spAutoFit/>
          </a:bodyPr>
          <a:lstStyle/>
          <a:p>
            <a:pPr algn="l">
              <a:lnSpc>
                <a:spcPct val="112000"/>
              </a:lnSpc>
              <a:spcBef>
                <a:spcPts val="0"/>
              </a:spcBef>
              <a:spcAft>
                <a:spcPts val="0"/>
              </a:spcAft>
            </a:pPr>
            <a:r>
              <a:rPr sz="3528" b="1">
                <a:solidFill>
                  <a:srgbClr val="FFFFFF"/>
                </a:solidFill>
                <a:latin typeface="Arial"/>
              </a:rPr>
              <a:t>৳3,500</a:t>
            </a:r>
          </a:p>
        </p:txBody>
      </p:sp>
      <p:sp>
        <p:nvSpPr>
          <p:cNvPr id="24" name="TextBox 23"/>
          <p:cNvSpPr txBox="1"/>
          <p:nvPr/>
        </p:nvSpPr>
        <p:spPr>
          <a:xfrm>
            <a:off x="950976" y="5669280"/>
            <a:ext cx="3813048" cy="29260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B6C6CF"/>
                </a:solidFill>
                <a:latin typeface="Arial"/>
              </a:rPr>
              <a:t>Target: camera; screen + Pi shared</a:t>
            </a:r>
          </a:p>
        </p:txBody>
      </p:sp>
      <p:sp>
        <p:nvSpPr>
          <p:cNvPr id="25" name="Rounded Rectangle 24"/>
          <p:cNvSpPr/>
          <p:nvPr/>
        </p:nvSpPr>
        <p:spPr>
          <a:xfrm>
            <a:off x="5202936" y="4489704"/>
            <a:ext cx="4206240" cy="1554480"/>
          </a:xfrm>
          <a:prstGeom prst="roundRect">
            <a:avLst>
              <a:gd name="adj" fmla="val 11764"/>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2392" y="4645152"/>
            <a:ext cx="3813048" cy="274320"/>
          </a:xfrm>
          <a:prstGeom prst="rect">
            <a:avLst/>
          </a:prstGeom>
          <a:noFill/>
        </p:spPr>
        <p:txBody>
          <a:bodyPr wrap="square" lIns="0" rIns="0" tIns="0" bIns="0">
            <a:spAutoFit/>
          </a:bodyPr>
          <a:lstStyle/>
          <a:p>
            <a:pPr algn="l">
              <a:lnSpc>
                <a:spcPct val="112000"/>
              </a:lnSpc>
              <a:spcBef>
                <a:spcPts val="0"/>
              </a:spcBef>
              <a:spcAft>
                <a:spcPts val="0"/>
              </a:spcAft>
            </a:pPr>
            <a:r>
              <a:rPr sz="1512" b="1">
                <a:solidFill>
                  <a:srgbClr val="FFB17B"/>
                </a:solidFill>
                <a:latin typeface="Arial"/>
              </a:rPr>
              <a:t>SHARED PI HUB</a:t>
            </a:r>
          </a:p>
        </p:txBody>
      </p:sp>
      <p:sp>
        <p:nvSpPr>
          <p:cNvPr id="27" name="TextBox 26"/>
          <p:cNvSpPr txBox="1"/>
          <p:nvPr/>
        </p:nvSpPr>
        <p:spPr>
          <a:xfrm>
            <a:off x="5394960" y="4983480"/>
            <a:ext cx="3840480" cy="594360"/>
          </a:xfrm>
          <a:prstGeom prst="rect">
            <a:avLst/>
          </a:prstGeom>
          <a:noFill/>
        </p:spPr>
        <p:txBody>
          <a:bodyPr wrap="square" lIns="0" rIns="0" tIns="0" bIns="0">
            <a:spAutoFit/>
          </a:bodyPr>
          <a:lstStyle/>
          <a:p>
            <a:pPr algn="l">
              <a:lnSpc>
                <a:spcPct val="112000"/>
              </a:lnSpc>
              <a:spcBef>
                <a:spcPts val="0"/>
              </a:spcBef>
              <a:spcAft>
                <a:spcPts val="0"/>
              </a:spcAft>
            </a:pPr>
            <a:r>
              <a:rPr sz="3528" b="1">
                <a:solidFill>
                  <a:srgbClr val="FFFFFF"/>
                </a:solidFill>
                <a:latin typeface="Arial"/>
              </a:rPr>
              <a:t>৳15,000</a:t>
            </a:r>
          </a:p>
        </p:txBody>
      </p:sp>
      <p:sp>
        <p:nvSpPr>
          <p:cNvPr id="28" name="TextBox 27"/>
          <p:cNvSpPr txBox="1"/>
          <p:nvPr/>
        </p:nvSpPr>
        <p:spPr>
          <a:xfrm>
            <a:off x="5422392" y="5669280"/>
            <a:ext cx="3813048" cy="29260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B6C6CF"/>
                </a:solidFill>
                <a:latin typeface="Arial"/>
              </a:rPr>
              <a:t>Target: lower-memory / reused Pi 5</a:t>
            </a:r>
          </a:p>
        </p:txBody>
      </p:sp>
      <p:sp>
        <p:nvSpPr>
          <p:cNvPr id="29" name="Rounded Rectangle 28"/>
          <p:cNvSpPr/>
          <p:nvPr/>
        </p:nvSpPr>
        <p:spPr>
          <a:xfrm>
            <a:off x="9674352" y="4489704"/>
            <a:ext cx="4206240" cy="1554480"/>
          </a:xfrm>
          <a:prstGeom prst="roundRect">
            <a:avLst>
              <a:gd name="adj" fmla="val 11764"/>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93808" y="4645152"/>
            <a:ext cx="3813048" cy="274320"/>
          </a:xfrm>
          <a:prstGeom prst="rect">
            <a:avLst/>
          </a:prstGeom>
          <a:noFill/>
        </p:spPr>
        <p:txBody>
          <a:bodyPr wrap="square" lIns="0" rIns="0" tIns="0" bIns="0">
            <a:spAutoFit/>
          </a:bodyPr>
          <a:lstStyle/>
          <a:p>
            <a:pPr algn="l">
              <a:lnSpc>
                <a:spcPct val="112000"/>
              </a:lnSpc>
              <a:spcBef>
                <a:spcPts val="0"/>
              </a:spcBef>
              <a:spcAft>
                <a:spcPts val="0"/>
              </a:spcAft>
            </a:pPr>
            <a:r>
              <a:rPr sz="1512" b="1">
                <a:solidFill>
                  <a:srgbClr val="C9B9FF"/>
                </a:solidFill>
                <a:latin typeface="Arial"/>
              </a:rPr>
              <a:t>WHEELCHAIR ADD-ON</a:t>
            </a:r>
          </a:p>
        </p:txBody>
      </p:sp>
      <p:sp>
        <p:nvSpPr>
          <p:cNvPr id="31" name="TextBox 30"/>
          <p:cNvSpPr txBox="1"/>
          <p:nvPr/>
        </p:nvSpPr>
        <p:spPr>
          <a:xfrm>
            <a:off x="9866376" y="4983480"/>
            <a:ext cx="3840480" cy="594360"/>
          </a:xfrm>
          <a:prstGeom prst="rect">
            <a:avLst/>
          </a:prstGeom>
          <a:noFill/>
        </p:spPr>
        <p:txBody>
          <a:bodyPr wrap="square" lIns="0" rIns="0" tIns="0" bIns="0">
            <a:spAutoFit/>
          </a:bodyPr>
          <a:lstStyle/>
          <a:p>
            <a:pPr algn="l">
              <a:lnSpc>
                <a:spcPct val="112000"/>
              </a:lnSpc>
              <a:spcBef>
                <a:spcPts val="0"/>
              </a:spcBef>
              <a:spcAft>
                <a:spcPts val="0"/>
              </a:spcAft>
            </a:pPr>
            <a:r>
              <a:rPr sz="3528" b="1">
                <a:solidFill>
                  <a:srgbClr val="FFFFFF"/>
                </a:solidFill>
                <a:latin typeface="Arial"/>
              </a:rPr>
              <a:t>৳12,000*</a:t>
            </a:r>
          </a:p>
        </p:txBody>
      </p:sp>
      <p:sp>
        <p:nvSpPr>
          <p:cNvPr id="32" name="TextBox 31"/>
          <p:cNvSpPr txBox="1"/>
          <p:nvPr/>
        </p:nvSpPr>
        <p:spPr>
          <a:xfrm>
            <a:off x="9893808" y="5669280"/>
            <a:ext cx="3813048" cy="29260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B6C6CF"/>
                </a:solidFill>
                <a:latin typeface="Arial"/>
              </a:rPr>
              <a:t>Control target; EEG + chair excluded</a:t>
            </a:r>
          </a:p>
        </p:txBody>
      </p:sp>
      <p:sp>
        <p:nvSpPr>
          <p:cNvPr id="33" name="TextBox 32"/>
          <p:cNvSpPr txBox="1"/>
          <p:nvPr/>
        </p:nvSpPr>
        <p:spPr>
          <a:xfrm>
            <a:off x="749808" y="6400800"/>
            <a:ext cx="7635240" cy="521207"/>
          </a:xfrm>
          <a:prstGeom prst="rect">
            <a:avLst/>
          </a:prstGeom>
          <a:noFill/>
        </p:spPr>
        <p:txBody>
          <a:bodyPr wrap="square" lIns="0" rIns="0" tIns="0" bIns="0">
            <a:spAutoFit/>
          </a:bodyPr>
          <a:lstStyle/>
          <a:p>
            <a:pPr algn="l">
              <a:lnSpc>
                <a:spcPct val="112000"/>
              </a:lnSpc>
              <a:spcBef>
                <a:spcPts val="0"/>
              </a:spcBef>
              <a:spcAft>
                <a:spcPts val="0"/>
              </a:spcAft>
            </a:pPr>
            <a:r>
              <a:rPr sz="2664" b="1">
                <a:solidFill>
                  <a:srgbClr val="FFFFFF"/>
                </a:solidFill>
                <a:latin typeface="Arial"/>
              </a:rPr>
              <a:t>Communication target: ৳28,000</a:t>
            </a:r>
          </a:p>
        </p:txBody>
      </p:sp>
      <p:sp>
        <p:nvSpPr>
          <p:cNvPr id="34" name="TextBox 33"/>
          <p:cNvSpPr txBox="1"/>
          <p:nvPr/>
        </p:nvSpPr>
        <p:spPr>
          <a:xfrm>
            <a:off x="749808" y="6931152"/>
            <a:ext cx="8046720" cy="347472"/>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B6C6CF"/>
                </a:solidFill>
                <a:latin typeface="Arial"/>
              </a:rPr>
              <a:t>Core: ৳23,000 · With voice/gaze + 10% reserve: ৳30,800</a:t>
            </a:r>
          </a:p>
        </p:txBody>
      </p:sp>
      <p:sp>
        <p:nvSpPr>
          <p:cNvPr id="35" name="Rounded Rectangle 34"/>
          <p:cNvSpPr/>
          <p:nvPr/>
        </p:nvSpPr>
        <p:spPr>
          <a:xfrm>
            <a:off x="9125712" y="6373368"/>
            <a:ext cx="4773168" cy="896112"/>
          </a:xfrm>
          <a:prstGeom prst="roundRect">
            <a:avLst>
              <a:gd name="adj" fmla="val 20408"/>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80" y="6501384"/>
            <a:ext cx="4370832" cy="356616"/>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152C3B"/>
                </a:solidFill>
                <a:latin typeface="Arial"/>
              </a:rPr>
              <a:t>Shared hub: ৳3,000 / user</a:t>
            </a:r>
          </a:p>
        </p:txBody>
      </p:sp>
      <p:sp>
        <p:nvSpPr>
          <p:cNvPr id="37" name="TextBox 36"/>
          <p:cNvSpPr txBox="1"/>
          <p:nvPr/>
        </p:nvSpPr>
        <p:spPr>
          <a:xfrm>
            <a:off x="9326880" y="6894576"/>
            <a:ext cx="4370832" cy="256032"/>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152C3B"/>
                </a:solidFill>
                <a:latin typeface="Arial"/>
              </a:rPr>
              <a:t>5 users · *Mobility budget is separate</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526775"/>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526775"/>
                </a:solidFill>
                <a:latin typeface="Arial"/>
              </a:rPr>
              <a:t>09 / MARKET CONTEXT</a:t>
            </a:r>
          </a:p>
        </p:txBody>
      </p:sp>
      <p:cxnSp>
        <p:nvCxnSpPr>
          <p:cNvPr id="4" name="Connector 3"/>
          <p:cNvCxnSpPr/>
          <p:nvPr/>
        </p:nvCxnSpPr>
        <p:spPr>
          <a:xfrm>
            <a:off x="694944" y="7443216"/>
            <a:ext cx="13240512" cy="0"/>
          </a:xfrm>
          <a:prstGeom prst="line">
            <a:avLst/>
          </a:prstGeom>
          <a:ln w="9144">
            <a:solidFill>
              <a:srgbClr val="D7DD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26775"/>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26775"/>
                </a:solidFill>
                <a:latin typeface="Arial"/>
              </a:rPr>
              <a:t>09</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526775"/>
                </a:solidFill>
                <a:latin typeface="Arial"/>
              </a:rPr>
              <a:t>SELECTED PREMIUM REFERENCES / BDT</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152C3B"/>
                </a:solidFill>
                <a:latin typeface="Arial"/>
              </a:rPr>
              <a:t>Premium prices.</a:t>
            </a:r>
          </a:p>
          <a:p>
            <a:pPr algn="l">
              <a:lnSpc>
                <a:spcPct val="112000"/>
              </a:lnSpc>
              <a:spcBef>
                <a:spcPts val="0"/>
              </a:spcBef>
              <a:spcAft>
                <a:spcPts val="0"/>
              </a:spcAft>
            </a:pPr>
            <a:r>
              <a:rPr sz="4608" b="1">
                <a:solidFill>
                  <a:srgbClr val="152C3B"/>
                </a:solidFill>
                <a:latin typeface="Arial"/>
              </a:rPr>
              <a:t>A lower-cost direction.</a:t>
            </a:r>
          </a:p>
        </p:txBody>
      </p:sp>
      <p:sp>
        <p:nvSpPr>
          <p:cNvPr id="9" name="Rounded Rectangle 8"/>
          <p:cNvSpPr/>
          <p:nvPr/>
        </p:nvSpPr>
        <p:spPr>
          <a:xfrm>
            <a:off x="731520" y="3227832"/>
            <a:ext cx="6400800" cy="3118104"/>
          </a:xfrm>
          <a:prstGeom prst="roundRect">
            <a:avLst>
              <a:gd name="adj" fmla="val 586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410712"/>
            <a:ext cx="5943600" cy="265176"/>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147C6F"/>
                </a:solidFill>
                <a:latin typeface="Arial"/>
              </a:rPr>
              <a:t>HAND INPUT</a:t>
            </a:r>
          </a:p>
        </p:txBody>
      </p:sp>
      <p:sp>
        <p:nvSpPr>
          <p:cNvPr id="11" name="TextBox 10"/>
          <p:cNvSpPr txBox="1"/>
          <p:nvPr/>
        </p:nvSpPr>
        <p:spPr>
          <a:xfrm>
            <a:off x="960120" y="3803904"/>
            <a:ext cx="5943600" cy="347472"/>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152C3B"/>
                </a:solidFill>
                <a:latin typeface="Arial"/>
              </a:rPr>
              <a:t>Rokoko Smartgloves II</a:t>
            </a:r>
          </a:p>
        </p:txBody>
      </p:sp>
      <p:sp>
        <p:nvSpPr>
          <p:cNvPr id="12" name="TextBox 11"/>
          <p:cNvSpPr txBox="1"/>
          <p:nvPr/>
        </p:nvSpPr>
        <p:spPr>
          <a:xfrm>
            <a:off x="932688" y="4251960"/>
            <a:ext cx="5971032" cy="667512"/>
          </a:xfrm>
          <a:prstGeom prst="rect">
            <a:avLst/>
          </a:prstGeom>
          <a:noFill/>
        </p:spPr>
        <p:txBody>
          <a:bodyPr wrap="square" lIns="0" rIns="0" tIns="0" bIns="0">
            <a:spAutoFit/>
          </a:bodyPr>
          <a:lstStyle/>
          <a:p>
            <a:pPr algn="l">
              <a:lnSpc>
                <a:spcPct val="112000"/>
              </a:lnSpc>
              <a:spcBef>
                <a:spcPts val="0"/>
              </a:spcBef>
              <a:spcAft>
                <a:spcPts val="0"/>
              </a:spcAft>
            </a:pPr>
            <a:r>
              <a:rPr sz="3672" b="1">
                <a:solidFill>
                  <a:srgbClr val="526775"/>
                </a:solidFill>
                <a:latin typeface="Arial"/>
              </a:rPr>
              <a:t>≈ ৳2.45 lakh</a:t>
            </a:r>
          </a:p>
        </p:txBody>
      </p:sp>
      <p:sp>
        <p:nvSpPr>
          <p:cNvPr id="13" name="Rounded Rectangle 12"/>
          <p:cNvSpPr/>
          <p:nvPr/>
        </p:nvSpPr>
        <p:spPr>
          <a:xfrm>
            <a:off x="950976" y="5010912"/>
            <a:ext cx="5961888" cy="603504"/>
          </a:xfrm>
          <a:prstGeom prst="roundRect">
            <a:avLst>
              <a:gd name="adj" fmla="val 19696"/>
            </a:avLst>
          </a:prstGeom>
          <a:solidFill>
            <a:srgbClr val="15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148072"/>
            <a:ext cx="5669280" cy="402336"/>
          </a:xfrm>
          <a:prstGeom prst="rect">
            <a:avLst/>
          </a:prstGeom>
          <a:noFill/>
        </p:spPr>
        <p:txBody>
          <a:bodyPr wrap="square" lIns="0" rIns="0" tIns="0" bIns="0">
            <a:spAutoFit/>
          </a:bodyPr>
          <a:lstStyle/>
          <a:p>
            <a:pPr algn="l">
              <a:lnSpc>
                <a:spcPct val="112000"/>
              </a:lnSpc>
              <a:spcBef>
                <a:spcPts val="0"/>
              </a:spcBef>
              <a:spcAft>
                <a:spcPts val="0"/>
              </a:spcAft>
            </a:pPr>
            <a:r>
              <a:rPr sz="2304" b="1">
                <a:solidFill>
                  <a:srgbClr val="77E1CB"/>
                </a:solidFill>
                <a:latin typeface="Arial"/>
              </a:rPr>
              <a:t>Ability: ৳4,000–5,000</a:t>
            </a:r>
          </a:p>
        </p:txBody>
      </p:sp>
      <p:sp>
        <p:nvSpPr>
          <p:cNvPr id="15" name="TextBox 14"/>
          <p:cNvSpPr txBox="1"/>
          <p:nvPr/>
        </p:nvSpPr>
        <p:spPr>
          <a:xfrm>
            <a:off x="960120" y="5769864"/>
            <a:ext cx="5943600" cy="557784"/>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26775"/>
                </a:solidFill>
                <a:latin typeface="Arial"/>
              </a:rPr>
              <a:t>Pro motion-capture pair vs our single</a:t>
            </a:r>
          </a:p>
          <a:p>
            <a:pPr algn="l">
              <a:lnSpc>
                <a:spcPct val="112000"/>
              </a:lnSpc>
              <a:spcBef>
                <a:spcPts val="0"/>
              </a:spcBef>
              <a:spcAft>
                <a:spcPts val="0"/>
              </a:spcAft>
            </a:pPr>
            <a:r>
              <a:rPr sz="1655" b="0">
                <a:solidFill>
                  <a:srgbClr val="526775"/>
                </a:solidFill>
                <a:latin typeface="Arial"/>
              </a:rPr>
              <a:t>gesture-glove prototype.</a:t>
            </a:r>
          </a:p>
        </p:txBody>
      </p:sp>
      <p:sp>
        <p:nvSpPr>
          <p:cNvPr id="16" name="Rounded Rectangle 15"/>
          <p:cNvSpPr/>
          <p:nvPr/>
        </p:nvSpPr>
        <p:spPr>
          <a:xfrm>
            <a:off x="7498079" y="3227832"/>
            <a:ext cx="6400800" cy="3118104"/>
          </a:xfrm>
          <a:prstGeom prst="roundRect">
            <a:avLst>
              <a:gd name="adj" fmla="val 586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3410712"/>
            <a:ext cx="5943600" cy="265176"/>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88633F"/>
                </a:solidFill>
                <a:latin typeface="Arial"/>
              </a:rPr>
              <a:t>TACTILE OUTPUT</a:t>
            </a:r>
          </a:p>
        </p:txBody>
      </p:sp>
      <p:sp>
        <p:nvSpPr>
          <p:cNvPr id="18" name="TextBox 17"/>
          <p:cNvSpPr txBox="1"/>
          <p:nvPr/>
        </p:nvSpPr>
        <p:spPr>
          <a:xfrm>
            <a:off x="7726679" y="3803904"/>
            <a:ext cx="5943600" cy="347472"/>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152C3B"/>
                </a:solidFill>
                <a:latin typeface="Arial"/>
              </a:rPr>
              <a:t>HumanWare Brailliant BI 40X</a:t>
            </a:r>
          </a:p>
        </p:txBody>
      </p:sp>
      <p:sp>
        <p:nvSpPr>
          <p:cNvPr id="19" name="TextBox 18"/>
          <p:cNvSpPr txBox="1"/>
          <p:nvPr/>
        </p:nvSpPr>
        <p:spPr>
          <a:xfrm>
            <a:off x="7699248" y="4251960"/>
            <a:ext cx="5971032" cy="667512"/>
          </a:xfrm>
          <a:prstGeom prst="rect">
            <a:avLst/>
          </a:prstGeom>
          <a:noFill/>
        </p:spPr>
        <p:txBody>
          <a:bodyPr wrap="square" lIns="0" rIns="0" tIns="0" bIns="0">
            <a:spAutoFit/>
          </a:bodyPr>
          <a:lstStyle/>
          <a:p>
            <a:pPr algn="l">
              <a:lnSpc>
                <a:spcPct val="112000"/>
              </a:lnSpc>
              <a:spcBef>
                <a:spcPts val="0"/>
              </a:spcBef>
              <a:spcAft>
                <a:spcPts val="0"/>
              </a:spcAft>
            </a:pPr>
            <a:r>
              <a:rPr sz="3672" b="1">
                <a:solidFill>
                  <a:srgbClr val="526775"/>
                </a:solidFill>
                <a:latin typeface="Arial"/>
              </a:rPr>
              <a:t>≈ ৳4.62 lakh</a:t>
            </a:r>
          </a:p>
        </p:txBody>
      </p:sp>
      <p:sp>
        <p:nvSpPr>
          <p:cNvPr id="20" name="Rounded Rectangle 19"/>
          <p:cNvSpPr/>
          <p:nvPr/>
        </p:nvSpPr>
        <p:spPr>
          <a:xfrm>
            <a:off x="7717536" y="5010912"/>
            <a:ext cx="5961888" cy="603504"/>
          </a:xfrm>
          <a:prstGeom prst="roundRect">
            <a:avLst>
              <a:gd name="adj" fmla="val 19696"/>
            </a:avLst>
          </a:prstGeom>
          <a:solidFill>
            <a:srgbClr val="15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5148072"/>
            <a:ext cx="5669280" cy="402336"/>
          </a:xfrm>
          <a:prstGeom prst="rect">
            <a:avLst/>
          </a:prstGeom>
          <a:noFill/>
        </p:spPr>
        <p:txBody>
          <a:bodyPr wrap="square" lIns="0" rIns="0" tIns="0" bIns="0">
            <a:spAutoFit/>
          </a:bodyPr>
          <a:lstStyle/>
          <a:p>
            <a:pPr algn="l">
              <a:lnSpc>
                <a:spcPct val="112000"/>
              </a:lnSpc>
              <a:spcBef>
                <a:spcPts val="0"/>
              </a:spcBef>
              <a:spcAft>
                <a:spcPts val="0"/>
              </a:spcAft>
            </a:pPr>
            <a:r>
              <a:rPr sz="2304" b="1">
                <a:solidFill>
                  <a:srgbClr val="77E1CB"/>
                </a:solidFill>
                <a:latin typeface="Arial"/>
              </a:rPr>
              <a:t>Ability target: ৳3,500</a:t>
            </a:r>
          </a:p>
        </p:txBody>
      </p:sp>
      <p:sp>
        <p:nvSpPr>
          <p:cNvPr id="22" name="TextBox 21"/>
          <p:cNvSpPr txBox="1"/>
          <p:nvPr/>
        </p:nvSpPr>
        <p:spPr>
          <a:xfrm>
            <a:off x="7726679" y="5769864"/>
            <a:ext cx="5943600" cy="557784"/>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26775"/>
                </a:solidFill>
                <a:latin typeface="Arial"/>
              </a:rPr>
              <a:t>40-cell commercial reader vs our</a:t>
            </a:r>
          </a:p>
          <a:p>
            <a:pPr algn="l">
              <a:lnSpc>
                <a:spcPct val="112000"/>
              </a:lnSpc>
              <a:spcBef>
                <a:spcPts val="0"/>
              </a:spcBef>
              <a:spcAft>
                <a:spcPts val="0"/>
              </a:spcAft>
            </a:pPr>
            <a:r>
              <a:rPr sz="1655" b="0">
                <a:solidFill>
                  <a:srgbClr val="526775"/>
                </a:solidFill>
                <a:latin typeface="Arial"/>
              </a:rPr>
              <a:t>4-cell, six-dot prototype.</a:t>
            </a:r>
          </a:p>
        </p:txBody>
      </p:sp>
      <p:sp>
        <p:nvSpPr>
          <p:cNvPr id="23" name="TextBox 22"/>
          <p:cNvSpPr txBox="1"/>
          <p:nvPr/>
        </p:nvSpPr>
        <p:spPr>
          <a:xfrm>
            <a:off x="749808" y="6537960"/>
            <a:ext cx="13075920" cy="384048"/>
          </a:xfrm>
          <a:prstGeom prst="rect">
            <a:avLst/>
          </a:prstGeom>
          <a:noFill/>
        </p:spPr>
        <p:txBody>
          <a:bodyPr wrap="square" lIns="0" rIns="0" tIns="0" bIns="0">
            <a:spAutoFit/>
          </a:bodyPr>
          <a:lstStyle/>
          <a:p>
            <a:pPr algn="l">
              <a:lnSpc>
                <a:spcPct val="112000"/>
              </a:lnSpc>
              <a:spcBef>
                <a:spcPts val="0"/>
              </a:spcBef>
              <a:spcAft>
                <a:spcPts val="0"/>
              </a:spcAft>
            </a:pPr>
            <a:r>
              <a:rPr sz="2016" b="1">
                <a:solidFill>
                  <a:srgbClr val="152C3B"/>
                </a:solidFill>
                <a:latin typeface="Arial"/>
              </a:rPr>
              <a:t>Lower entry cost through focused functions, shared computing and local assembly.</a:t>
            </a:r>
          </a:p>
        </p:txBody>
      </p:sp>
      <p:sp>
        <p:nvSpPr>
          <p:cNvPr id="24" name="TextBox 23"/>
          <p:cNvSpPr txBox="1"/>
          <p:nvPr/>
        </p:nvSpPr>
        <p:spPr>
          <a:xfrm>
            <a:off x="749808" y="6949440"/>
            <a:ext cx="12984480" cy="448056"/>
          </a:xfrm>
          <a:prstGeom prst="rect">
            <a:avLst/>
          </a:prstGeom>
          <a:noFill/>
        </p:spPr>
        <p:txBody>
          <a:bodyPr wrap="square" lIns="0" rIns="0" tIns="0" bIns="0">
            <a:spAutoFit/>
          </a:bodyPr>
          <a:lstStyle/>
          <a:p>
            <a:pPr algn="l">
              <a:lnSpc>
                <a:spcPct val="112000"/>
              </a:lnSpc>
              <a:spcBef>
                <a:spcPts val="0"/>
              </a:spcBef>
              <a:spcAft>
                <a:spcPts val="0"/>
              </a:spcAft>
            </a:pPr>
            <a:r>
              <a:rPr sz="1224" b="0">
                <a:solidFill>
                  <a:srgbClr val="526775"/>
                </a:solidFill>
                <a:latin typeface="Arial"/>
              </a:rPr>
              <a:t>Price context, not equal performance. Module costs exclude hub share. USD 1 ≈ ৳123; tax/shipping excluded.</a:t>
            </a:r>
          </a:p>
          <a:p>
            <a:pPr algn="l">
              <a:lnSpc>
                <a:spcPct val="112000"/>
              </a:lnSpc>
              <a:spcBef>
                <a:spcPts val="0"/>
              </a:spcBef>
              <a:spcAft>
                <a:spcPts val="0"/>
              </a:spcAft>
            </a:pPr>
            <a:r>
              <a:rPr sz="1224" b="0">
                <a:solidFill>
                  <a:srgbClr val="526775"/>
                </a:solidFill>
                <a:latin typeface="Arial"/>
              </a:rPr>
              <a:t>Official listings checked 30 Sep 2026. Lower-price reference: Orbit Reader 20 ≈ ৳98,300 (20 cells).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B6C6CF"/>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B6C6CF"/>
                </a:solidFill>
                <a:latin typeface="Arial"/>
              </a:rPr>
              <a:t>10 / PROPOSED EXTENSION</a:t>
            </a:r>
          </a:p>
        </p:txBody>
      </p:sp>
      <p:cxnSp>
        <p:nvCxnSpPr>
          <p:cNvPr id="4" name="Connector 3"/>
          <p:cNvCxnSpPr/>
          <p:nvPr/>
        </p:nvCxnSpPr>
        <p:spPr>
          <a:xfrm>
            <a:off x="694944" y="7443216"/>
            <a:ext cx="13240512" cy="0"/>
          </a:xfrm>
          <a:prstGeom prst="line">
            <a:avLst/>
          </a:prstGeom>
          <a:ln w="9144">
            <a:solidFill>
              <a:srgbClr val="3446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B6C6CF"/>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B6C6CF"/>
                </a:solidFill>
                <a:latin typeface="Arial"/>
              </a:rPr>
              <a:t>10</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77E1CB"/>
                </a:solidFill>
                <a:latin typeface="Arial"/>
              </a:rPr>
              <a:t>PRESENTATION-ONLY CONCEPT</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FFFFFF"/>
                </a:solidFill>
                <a:latin typeface="Arial"/>
              </a:rPr>
              <a:t>The next module:</a:t>
            </a:r>
          </a:p>
          <a:p>
            <a:pPr algn="l">
              <a:lnSpc>
                <a:spcPct val="112000"/>
              </a:lnSpc>
              <a:spcBef>
                <a:spcPts val="0"/>
              </a:spcBef>
              <a:spcAft>
                <a:spcPts val="0"/>
              </a:spcAft>
            </a:pPr>
            <a:r>
              <a:rPr sz="4608" b="1">
                <a:solidFill>
                  <a:srgbClr val="FFFFFF"/>
                </a:solidFill>
                <a:latin typeface="Arial"/>
              </a:rPr>
              <a:t>mobility + a voice.</a:t>
            </a:r>
          </a:p>
        </p:txBody>
      </p:sp>
      <p:sp>
        <p:nvSpPr>
          <p:cNvPr id="9" name="Rounded Rectangle 8"/>
          <p:cNvSpPr/>
          <p:nvPr/>
        </p:nvSpPr>
        <p:spPr>
          <a:xfrm>
            <a:off x="10058400" y="1143000"/>
            <a:ext cx="3794760" cy="365760"/>
          </a:xfrm>
          <a:prstGeom prst="roundRect">
            <a:avLst>
              <a:gd name="adj" fmla="val 47500"/>
            </a:avLst>
          </a:prstGeom>
          <a:noFill/>
          <a:ln w="18288">
            <a:solidFill>
              <a:srgbClr val="C9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8128" y="1225296"/>
            <a:ext cx="3575304" cy="237744"/>
          </a:xfrm>
          <a:prstGeom prst="rect">
            <a:avLst/>
          </a:prstGeom>
          <a:noFill/>
        </p:spPr>
        <p:txBody>
          <a:bodyPr wrap="square" lIns="0" rIns="0" tIns="0" bIns="0">
            <a:spAutoFit/>
          </a:bodyPr>
          <a:lstStyle/>
          <a:p>
            <a:pPr algn="ctr">
              <a:lnSpc>
                <a:spcPct val="112000"/>
              </a:lnSpc>
              <a:spcBef>
                <a:spcPts val="0"/>
              </a:spcBef>
              <a:spcAft>
                <a:spcPts val="0"/>
              </a:spcAft>
            </a:pPr>
            <a:r>
              <a:rPr sz="1152" b="1">
                <a:solidFill>
                  <a:srgbClr val="C9B9FF"/>
                </a:solidFill>
                <a:latin typeface="Arial"/>
              </a:rPr>
              <a:t>PROPOSED / NOT BUILT</a:t>
            </a:r>
          </a:p>
        </p:txBody>
      </p:sp>
      <p:sp>
        <p:nvSpPr>
          <p:cNvPr id="11" name="Rounded Rectangle 10"/>
          <p:cNvSpPr/>
          <p:nvPr/>
        </p:nvSpPr>
        <p:spPr>
          <a:xfrm>
            <a:off x="731520" y="3264408"/>
            <a:ext cx="4114800" cy="3721608"/>
          </a:xfrm>
          <a:prstGeom prst="roundRect">
            <a:avLst>
              <a:gd name="adj" fmla="val 4914"/>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419856"/>
            <a:ext cx="3721608" cy="256032"/>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C9B9FF"/>
                </a:solidFill>
                <a:latin typeface="Arial"/>
              </a:rPr>
              <a:t>PARKINSON’S / MOTOR ACCESS</a:t>
            </a:r>
          </a:p>
        </p:txBody>
      </p:sp>
      <p:sp>
        <p:nvSpPr>
          <p:cNvPr id="13" name="Oval 12"/>
          <p:cNvSpPr/>
          <p:nvPr/>
        </p:nvSpPr>
        <p:spPr>
          <a:xfrm>
            <a:off x="2141524" y="3666744"/>
            <a:ext cx="573328" cy="573328"/>
          </a:xfrm>
          <a:prstGeom prst="ellipse">
            <a:avLst/>
          </a:prstGeom>
          <a:solidFill>
            <a:srgbClr val="FFB1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002536" y="4361688"/>
            <a:ext cx="825246" cy="1129284"/>
          </a:xfrm>
          <a:prstGeom prst="roundRect">
            <a:avLst>
              <a:gd name="adj" fmla="val 39889"/>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297887" y="5404104"/>
            <a:ext cx="642823" cy="138988"/>
          </a:xfrm>
          <a:prstGeom prst="line">
            <a:avLst/>
          </a:prstGeom>
          <a:ln w="130302">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940710" y="5543092"/>
            <a:ext cx="147676" cy="460401"/>
          </a:xfrm>
          <a:prstGeom prst="line">
            <a:avLst/>
          </a:prstGeom>
          <a:ln w="130302">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88386" y="6003493"/>
            <a:ext cx="191109" cy="0"/>
          </a:xfrm>
          <a:prstGeom prst="line">
            <a:avLst/>
          </a:prstGeom>
          <a:ln w="104241">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689811" y="4622292"/>
            <a:ext cx="382219" cy="434340"/>
          </a:xfrm>
          <a:prstGeom prst="line">
            <a:avLst/>
          </a:prstGeom>
          <a:ln w="138988">
            <a:solidFill>
              <a:srgbClr val="FFB17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758287" y="4300880"/>
            <a:ext cx="390906" cy="321412"/>
          </a:xfrm>
          <a:prstGeom prst="line">
            <a:avLst/>
          </a:prstGeom>
          <a:ln w="138988">
            <a:solidFill>
              <a:srgbClr val="FFB17B"/>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637690" y="5178247"/>
            <a:ext cx="1146657" cy="1146657"/>
          </a:xfrm>
          <a:prstGeom prst="ellipse">
            <a:avLst/>
          </a:prstGeom>
          <a:noFill/>
          <a:ln w="78181">
            <a:solidFill>
              <a:srgbClr val="C9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966770" y="5994806"/>
            <a:ext cx="295351" cy="295351"/>
          </a:xfrm>
          <a:prstGeom prst="ellipse">
            <a:avLst/>
          </a:prstGeom>
          <a:noFill/>
          <a:ln w="52120">
            <a:solidFill>
              <a:srgbClr val="C9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2211019" y="5682081"/>
            <a:ext cx="833933" cy="0"/>
          </a:xfrm>
          <a:prstGeom prst="line">
            <a:avLst/>
          </a:prstGeom>
          <a:ln w="60807">
            <a:solidFill>
              <a:srgbClr val="C9B9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44952" y="5682081"/>
            <a:ext cx="60807" cy="443027"/>
          </a:xfrm>
          <a:prstGeom prst="line">
            <a:avLst/>
          </a:prstGeom>
          <a:ln w="60807">
            <a:solidFill>
              <a:srgbClr val="C9B9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103120" y="3794760"/>
            <a:ext cx="612648" cy="0"/>
          </a:xfrm>
          <a:prstGeom prst="line">
            <a:avLst/>
          </a:prstGeom>
          <a:ln w="64008">
            <a:solidFill>
              <a:srgbClr val="C9B9FF"/>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258568" y="3712463"/>
            <a:ext cx="118872" cy="118872"/>
          </a:xfrm>
          <a:prstGeom prst="ellipse">
            <a:avLst/>
          </a:prstGeom>
          <a:solidFill>
            <a:srgbClr val="C9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560320" y="3712463"/>
            <a:ext cx="118872" cy="118872"/>
          </a:xfrm>
          <a:prstGeom prst="ellipse">
            <a:avLst/>
          </a:prstGeom>
          <a:solidFill>
            <a:srgbClr val="C9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246120" y="4489704"/>
            <a:ext cx="1380744" cy="1252728"/>
          </a:xfrm>
          <a:prstGeom prst="roundRect">
            <a:avLst>
              <a:gd name="adj" fmla="val 8759"/>
            </a:avLst>
          </a:prstGeom>
          <a:solidFill>
            <a:srgbClr val="101E2B"/>
          </a:solidFill>
          <a:ln w="18288">
            <a:solidFill>
              <a:srgbClr val="77E1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46704" y="4590288"/>
            <a:ext cx="1188720" cy="283464"/>
          </a:xfrm>
          <a:prstGeom prst="rect">
            <a:avLst/>
          </a:prstGeom>
          <a:noFill/>
        </p:spPr>
        <p:txBody>
          <a:bodyPr wrap="square" lIns="0" rIns="0" tIns="0" bIns="0">
            <a:spAutoFit/>
          </a:bodyPr>
          <a:lstStyle/>
          <a:p>
            <a:pPr algn="ctr">
              <a:lnSpc>
                <a:spcPct val="112000"/>
              </a:lnSpc>
              <a:spcBef>
                <a:spcPts val="0"/>
              </a:spcBef>
              <a:spcAft>
                <a:spcPts val="0"/>
              </a:spcAft>
            </a:pPr>
            <a:r>
              <a:rPr sz="1439" b="1">
                <a:solidFill>
                  <a:srgbClr val="77E1CB"/>
                </a:solidFill>
                <a:latin typeface="Arial"/>
              </a:rPr>
              <a:t>WATER</a:t>
            </a:r>
          </a:p>
        </p:txBody>
      </p:sp>
      <p:sp>
        <p:nvSpPr>
          <p:cNvPr id="29" name="Rounded Rectangle 28"/>
          <p:cNvSpPr/>
          <p:nvPr/>
        </p:nvSpPr>
        <p:spPr>
          <a:xfrm>
            <a:off x="3374136" y="4983480"/>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657600" y="4983480"/>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941063" y="4983480"/>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24528" y="4983480"/>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374136" y="5193792"/>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657600" y="5193792"/>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941063" y="5193792"/>
            <a:ext cx="219456" cy="155448"/>
          </a:xfrm>
          <a:prstGeom prst="roundRect">
            <a:avLst>
              <a:gd name="adj" fmla="val 17647"/>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224528" y="5193792"/>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374136" y="5404104"/>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657600" y="5404104"/>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941063" y="5404104"/>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224528" y="5404104"/>
            <a:ext cx="219456" cy="155448"/>
          </a:xfrm>
          <a:prstGeom prst="roundRect">
            <a:avLst>
              <a:gd name="adj" fmla="val 17647"/>
            </a:avLst>
          </a:prstGeom>
          <a:solidFill>
            <a:srgbClr val="385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6120" y="5861304"/>
            <a:ext cx="1380744" cy="283464"/>
          </a:xfrm>
          <a:prstGeom prst="rect">
            <a:avLst/>
          </a:prstGeom>
          <a:noFill/>
        </p:spPr>
        <p:txBody>
          <a:bodyPr wrap="square" lIns="0" rIns="0" tIns="0" bIns="0">
            <a:spAutoFit/>
          </a:bodyPr>
          <a:lstStyle/>
          <a:p>
            <a:pPr algn="ctr">
              <a:lnSpc>
                <a:spcPct val="112000"/>
              </a:lnSpc>
              <a:spcBef>
                <a:spcPts val="0"/>
              </a:spcBef>
              <a:spcAft>
                <a:spcPts val="0"/>
              </a:spcAft>
            </a:pPr>
            <a:r>
              <a:rPr sz="1152" b="0">
                <a:solidFill>
                  <a:srgbClr val="B6C6CF"/>
                </a:solidFill>
                <a:latin typeface="Arial"/>
              </a:rPr>
              <a:t>Gaze keyboard</a:t>
            </a:r>
          </a:p>
        </p:txBody>
      </p:sp>
      <p:sp>
        <p:nvSpPr>
          <p:cNvPr id="42" name="TextBox 41"/>
          <p:cNvSpPr txBox="1"/>
          <p:nvPr/>
        </p:nvSpPr>
        <p:spPr>
          <a:xfrm>
            <a:off x="941832" y="6519672"/>
            <a:ext cx="3657600" cy="310896"/>
          </a:xfrm>
          <a:prstGeom prst="rect">
            <a:avLst/>
          </a:prstGeom>
          <a:noFill/>
        </p:spPr>
        <p:txBody>
          <a:bodyPr wrap="square" lIns="0" rIns="0" tIns="0" bIns="0">
            <a:spAutoFit/>
          </a:bodyPr>
          <a:lstStyle/>
          <a:p>
            <a:pPr algn="ctr">
              <a:lnSpc>
                <a:spcPct val="112000"/>
              </a:lnSpc>
              <a:spcBef>
                <a:spcPts val="0"/>
              </a:spcBef>
              <a:spcAft>
                <a:spcPts val="0"/>
              </a:spcAft>
            </a:pPr>
            <a:r>
              <a:rPr sz="1512" b="0">
                <a:solidFill>
                  <a:srgbClr val="B6C6CF"/>
                </a:solidFill>
                <a:latin typeface="Arial"/>
              </a:rPr>
              <a:t>Concept illustration</a:t>
            </a:r>
          </a:p>
        </p:txBody>
      </p:sp>
      <p:sp>
        <p:nvSpPr>
          <p:cNvPr id="43" name="TextBox 42"/>
          <p:cNvSpPr txBox="1"/>
          <p:nvPr/>
        </p:nvSpPr>
        <p:spPr>
          <a:xfrm>
            <a:off x="5257800" y="3300984"/>
            <a:ext cx="8394192" cy="374904"/>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77E1CB"/>
                </a:solidFill>
                <a:latin typeface="Arial"/>
              </a:rPr>
              <a:t>DRIVE MODE</a:t>
            </a:r>
          </a:p>
        </p:txBody>
      </p:sp>
      <p:sp>
        <p:nvSpPr>
          <p:cNvPr id="44" name="TextBox 43"/>
          <p:cNvSpPr txBox="1"/>
          <p:nvPr/>
        </p:nvSpPr>
        <p:spPr>
          <a:xfrm>
            <a:off x="5257800" y="3749039"/>
            <a:ext cx="8394192" cy="731520"/>
          </a:xfrm>
          <a:prstGeom prst="rect">
            <a:avLst/>
          </a:prstGeom>
          <a:noFill/>
        </p:spPr>
        <p:txBody>
          <a:bodyPr wrap="square" lIns="0" rIns="0" tIns="0" bIns="0">
            <a:spAutoFit/>
          </a:bodyPr>
          <a:lstStyle/>
          <a:p>
            <a:pPr algn="l">
              <a:lnSpc>
                <a:spcPct val="112000"/>
              </a:lnSpc>
              <a:spcBef>
                <a:spcPts val="0"/>
              </a:spcBef>
              <a:spcAft>
                <a:spcPts val="0"/>
              </a:spcAft>
            </a:pPr>
            <a:r>
              <a:rPr sz="2088" b="0">
                <a:solidFill>
                  <a:srgbClr val="FFFFFF"/>
                </a:solidFill>
                <a:latin typeface="Arial"/>
              </a:rPr>
              <a:t>EEG intent or eye selection → Pi → local</a:t>
            </a:r>
          </a:p>
          <a:p>
            <a:pPr algn="l">
              <a:lnSpc>
                <a:spcPct val="112000"/>
              </a:lnSpc>
              <a:spcBef>
                <a:spcPts val="0"/>
              </a:spcBef>
              <a:spcAft>
                <a:spcPts val="0"/>
              </a:spcAft>
            </a:pPr>
            <a:r>
              <a:rPr sz="2088" b="0">
                <a:solidFill>
                  <a:srgbClr val="FFFFFF"/>
                </a:solidFill>
                <a:latin typeface="Arial"/>
              </a:rPr>
              <a:t>safety controller → wheelchair motors</a:t>
            </a:r>
          </a:p>
        </p:txBody>
      </p:sp>
      <p:sp>
        <p:nvSpPr>
          <p:cNvPr id="45" name="TextBox 44"/>
          <p:cNvSpPr txBox="1"/>
          <p:nvPr/>
        </p:nvSpPr>
        <p:spPr>
          <a:xfrm>
            <a:off x="5257800" y="4745736"/>
            <a:ext cx="8394192" cy="374904"/>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C9B9FF"/>
                </a:solidFill>
                <a:latin typeface="Arial"/>
              </a:rPr>
              <a:t>COMMUNICATION MODE / CHAIR STOPPED</a:t>
            </a:r>
          </a:p>
        </p:txBody>
      </p:sp>
      <p:sp>
        <p:nvSpPr>
          <p:cNvPr id="46" name="TextBox 45"/>
          <p:cNvSpPr txBox="1"/>
          <p:nvPr/>
        </p:nvSpPr>
        <p:spPr>
          <a:xfrm>
            <a:off x="5257800" y="5202936"/>
            <a:ext cx="8503920" cy="740664"/>
          </a:xfrm>
          <a:prstGeom prst="rect">
            <a:avLst/>
          </a:prstGeom>
          <a:noFill/>
        </p:spPr>
        <p:txBody>
          <a:bodyPr wrap="square" lIns="0" rIns="0" tIns="0" bIns="0">
            <a:spAutoFit/>
          </a:bodyPr>
          <a:lstStyle/>
          <a:p>
            <a:pPr algn="l">
              <a:lnSpc>
                <a:spcPct val="112000"/>
              </a:lnSpc>
              <a:spcBef>
                <a:spcPts val="0"/>
              </a:spcBef>
              <a:spcAft>
                <a:spcPts val="0"/>
              </a:spcAft>
            </a:pPr>
            <a:r>
              <a:rPr sz="2088" b="0">
                <a:solidFill>
                  <a:srgbClr val="FFFFFF"/>
                </a:solidFill>
                <a:latin typeface="Arial"/>
              </a:rPr>
              <a:t>Gaze keyboard → text → Pi hub → Braille,</a:t>
            </a:r>
          </a:p>
          <a:p>
            <a:pPr algn="l">
              <a:lnSpc>
                <a:spcPct val="112000"/>
              </a:lnSpc>
              <a:spcBef>
                <a:spcPts val="0"/>
              </a:spcBef>
              <a:spcAft>
                <a:spcPts val="0"/>
              </a:spcAft>
            </a:pPr>
            <a:r>
              <a:rPr sz="2088" b="0">
                <a:solidFill>
                  <a:srgbClr val="FFFFFF"/>
                </a:solidFill>
                <a:latin typeface="Arial"/>
              </a:rPr>
              <a:t>screen, and planned avatar / speech</a:t>
            </a:r>
          </a:p>
        </p:txBody>
      </p:sp>
      <p:sp>
        <p:nvSpPr>
          <p:cNvPr id="47" name="Rounded Rectangle 46"/>
          <p:cNvSpPr/>
          <p:nvPr/>
        </p:nvSpPr>
        <p:spPr>
          <a:xfrm>
            <a:off x="5257800" y="6300216"/>
            <a:ext cx="8595360" cy="676656"/>
          </a:xfrm>
          <a:prstGeom prst="roundRect">
            <a:avLst>
              <a:gd name="adj" fmla="val 27027"/>
            </a:avLst>
          </a:prstGeom>
          <a:solidFill>
            <a:srgbClr val="1B2D3C"/>
          </a:solidFill>
          <a:ln w="18288">
            <a:solidFill>
              <a:srgbClr val="FFB1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49824" y="6483096"/>
            <a:ext cx="8229600" cy="374904"/>
          </a:xfrm>
          <a:prstGeom prst="rect">
            <a:avLst/>
          </a:prstGeom>
          <a:noFill/>
        </p:spPr>
        <p:txBody>
          <a:bodyPr wrap="square" lIns="0" rIns="0" tIns="0" bIns="0">
            <a:spAutoFit/>
          </a:bodyPr>
          <a:lstStyle/>
          <a:p>
            <a:pPr algn="l">
              <a:lnSpc>
                <a:spcPct val="112000"/>
              </a:lnSpc>
              <a:spcBef>
                <a:spcPts val="0"/>
              </a:spcBef>
              <a:spcAft>
                <a:spcPts val="0"/>
              </a:spcAft>
            </a:pPr>
            <a:r>
              <a:rPr sz="1800" b="1">
                <a:solidFill>
                  <a:srgbClr val="FFB17B"/>
                </a:solidFill>
                <a:latin typeface="Arial"/>
              </a:rPr>
              <a:t>E-stop • obstacle stop • signal timeout • speed limit</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B6C6CF"/>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B6C6CF"/>
                </a:solidFill>
                <a:latin typeface="Arial"/>
              </a:rPr>
              <a:t>11 / AI + CHAT EXPERIENCE</a:t>
            </a:r>
          </a:p>
        </p:txBody>
      </p:sp>
      <p:cxnSp>
        <p:nvCxnSpPr>
          <p:cNvPr id="4" name="Connector 3"/>
          <p:cNvCxnSpPr/>
          <p:nvPr/>
        </p:nvCxnSpPr>
        <p:spPr>
          <a:xfrm>
            <a:off x="694944" y="7443216"/>
            <a:ext cx="13240512" cy="0"/>
          </a:xfrm>
          <a:prstGeom prst="line">
            <a:avLst/>
          </a:prstGeom>
          <a:ln w="9144">
            <a:solidFill>
              <a:srgbClr val="3446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B6C6CF"/>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B6C6CF"/>
                </a:solidFill>
                <a:latin typeface="Arial"/>
              </a:rPr>
              <a:t>11</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77E1CB"/>
                </a:solidFill>
                <a:latin typeface="Arial"/>
              </a:rPr>
              <a:t>OUR AI/ML HUB / INTERFACE CONCEPT</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FFFFFF"/>
                </a:solidFill>
                <a:latin typeface="Arial"/>
              </a:rPr>
              <a:t>One hub. One accessible chat.</a:t>
            </a:r>
          </a:p>
        </p:txBody>
      </p:sp>
      <p:sp>
        <p:nvSpPr>
          <p:cNvPr id="9" name="TextBox 8"/>
          <p:cNvSpPr txBox="1"/>
          <p:nvPr/>
        </p:nvSpPr>
        <p:spPr>
          <a:xfrm>
            <a:off x="731520" y="2770632"/>
            <a:ext cx="12984480" cy="566928"/>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B6C6CF"/>
                </a:solidFill>
                <a:latin typeface="Arial"/>
              </a:rPr>
              <a:t>Recognize intent. Choose a person. Deliver in their preferred format.</a:t>
            </a:r>
          </a:p>
        </p:txBody>
      </p:sp>
      <p:sp>
        <p:nvSpPr>
          <p:cNvPr id="10" name="Rounded Rectangle 9"/>
          <p:cNvSpPr/>
          <p:nvPr/>
        </p:nvSpPr>
        <p:spPr>
          <a:xfrm>
            <a:off x="731520" y="3410712"/>
            <a:ext cx="7946136" cy="3557016"/>
          </a:xfrm>
          <a:prstGeom prst="roundRect">
            <a:avLst>
              <a:gd name="adj" fmla="val 6169"/>
            </a:avLst>
          </a:prstGeom>
          <a:solidFill>
            <a:srgbClr val="1B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30168"/>
            <a:ext cx="4206240" cy="320040"/>
          </a:xfrm>
          <a:prstGeom prst="rect">
            <a:avLst/>
          </a:prstGeom>
          <a:noFill/>
        </p:spPr>
        <p:txBody>
          <a:bodyPr wrap="square" lIns="0" rIns="0" tIns="0" bIns="0">
            <a:spAutoFit/>
          </a:bodyPr>
          <a:lstStyle/>
          <a:p>
            <a:pPr algn="l">
              <a:lnSpc>
                <a:spcPct val="112000"/>
              </a:lnSpc>
              <a:spcBef>
                <a:spcPts val="0"/>
              </a:spcBef>
              <a:spcAft>
                <a:spcPts val="0"/>
              </a:spcAft>
            </a:pPr>
            <a:r>
              <a:rPr sz="1800" b="1">
                <a:solidFill>
                  <a:srgbClr val="77E1CB"/>
                </a:solidFill>
                <a:latin typeface="Arial"/>
              </a:rPr>
              <a:t>ABILITY CHAT</a:t>
            </a:r>
          </a:p>
        </p:txBody>
      </p:sp>
      <p:sp>
        <p:nvSpPr>
          <p:cNvPr id="12" name="Rounded Rectangle 11"/>
          <p:cNvSpPr/>
          <p:nvPr/>
        </p:nvSpPr>
        <p:spPr>
          <a:xfrm>
            <a:off x="5989320" y="3566160"/>
            <a:ext cx="2386584" cy="365760"/>
          </a:xfrm>
          <a:prstGeom prst="roundRect">
            <a:avLst>
              <a:gd name="adj" fmla="val 47500"/>
            </a:avLst>
          </a:prstGeom>
          <a:noFill/>
          <a:ln w="18288">
            <a:solidFill>
              <a:srgbClr val="C9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8" y="3648456"/>
            <a:ext cx="2167128" cy="237744"/>
          </a:xfrm>
          <a:prstGeom prst="rect">
            <a:avLst/>
          </a:prstGeom>
          <a:noFill/>
        </p:spPr>
        <p:txBody>
          <a:bodyPr wrap="square" lIns="0" rIns="0" tIns="0" bIns="0">
            <a:spAutoFit/>
          </a:bodyPr>
          <a:lstStyle/>
          <a:p>
            <a:pPr algn="ctr">
              <a:lnSpc>
                <a:spcPct val="112000"/>
              </a:lnSpc>
              <a:spcBef>
                <a:spcPts val="0"/>
              </a:spcBef>
              <a:spcAft>
                <a:spcPts val="0"/>
              </a:spcAft>
            </a:pPr>
            <a:r>
              <a:rPr sz="1152" b="1">
                <a:solidFill>
                  <a:srgbClr val="C9B9FF"/>
                </a:solidFill>
                <a:latin typeface="Arial"/>
              </a:rPr>
              <a:t>INTERFACE CONCEPT</a:t>
            </a:r>
          </a:p>
        </p:txBody>
      </p:sp>
      <p:cxnSp>
        <p:nvCxnSpPr>
          <p:cNvPr id="14" name="Connector 13"/>
          <p:cNvCxnSpPr/>
          <p:nvPr/>
        </p:nvCxnSpPr>
        <p:spPr>
          <a:xfrm>
            <a:off x="978408" y="4087368"/>
            <a:ext cx="7443216" cy="0"/>
          </a:xfrm>
          <a:prstGeom prst="line">
            <a:avLst/>
          </a:prstGeom>
          <a:ln w="18288">
            <a:solidFill>
              <a:srgbClr val="38505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24128" y="4306824"/>
            <a:ext cx="4023360" cy="804672"/>
          </a:xfrm>
          <a:prstGeom prst="roundRect">
            <a:avLst>
              <a:gd name="adj" fmla="val 20454"/>
            </a:avLst>
          </a:prstGeom>
          <a:solidFill>
            <a:srgbClr val="3049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16152" y="4389120"/>
            <a:ext cx="3639312" cy="228600"/>
          </a:xfrm>
          <a:prstGeom prst="rect">
            <a:avLst/>
          </a:prstGeom>
          <a:noFill/>
        </p:spPr>
        <p:txBody>
          <a:bodyPr wrap="square" lIns="0" rIns="0" tIns="0" bIns="0">
            <a:spAutoFit/>
          </a:bodyPr>
          <a:lstStyle/>
          <a:p>
            <a:pPr algn="l">
              <a:lnSpc>
                <a:spcPct val="112000"/>
              </a:lnSpc>
              <a:spcBef>
                <a:spcPts val="0"/>
              </a:spcBef>
              <a:spcAft>
                <a:spcPts val="0"/>
              </a:spcAft>
            </a:pPr>
            <a:r>
              <a:rPr sz="1080" b="1">
                <a:solidFill>
                  <a:srgbClr val="77E1CB"/>
                </a:solidFill>
                <a:latin typeface="Arial"/>
              </a:rPr>
              <a:t>GAZE INPUT → BRAILLE CONTACT</a:t>
            </a:r>
          </a:p>
        </p:txBody>
      </p:sp>
      <p:sp>
        <p:nvSpPr>
          <p:cNvPr id="17" name="TextBox 16"/>
          <p:cNvSpPr txBox="1"/>
          <p:nvPr/>
        </p:nvSpPr>
        <p:spPr>
          <a:xfrm>
            <a:off x="1216152" y="4700016"/>
            <a:ext cx="3639312" cy="347472"/>
          </a:xfrm>
          <a:prstGeom prst="rect">
            <a:avLst/>
          </a:prstGeom>
          <a:noFill/>
        </p:spPr>
        <p:txBody>
          <a:bodyPr wrap="square" lIns="0" rIns="0" tIns="0" bIns="0">
            <a:spAutoFit/>
          </a:bodyPr>
          <a:lstStyle/>
          <a:p>
            <a:pPr algn="l">
              <a:lnSpc>
                <a:spcPct val="112000"/>
              </a:lnSpc>
              <a:spcBef>
                <a:spcPts val="0"/>
              </a:spcBef>
              <a:spcAft>
                <a:spcPts val="0"/>
              </a:spcAft>
            </a:pPr>
            <a:r>
              <a:rPr sz="2088" b="0">
                <a:solidFill>
                  <a:srgbClr val="FFFFFF"/>
                </a:solidFill>
                <a:latin typeface="Arial"/>
              </a:rPr>
              <a:t>Water, please.</a:t>
            </a:r>
          </a:p>
        </p:txBody>
      </p:sp>
      <p:sp>
        <p:nvSpPr>
          <p:cNvPr id="18" name="Rounded Rectangle 17"/>
          <p:cNvSpPr/>
          <p:nvPr/>
        </p:nvSpPr>
        <p:spPr>
          <a:xfrm>
            <a:off x="4507992" y="5330952"/>
            <a:ext cx="3840480" cy="694944"/>
          </a:xfrm>
          <a:prstGeom prst="roundRect">
            <a:avLst>
              <a:gd name="adj" fmla="val 23684"/>
            </a:avLst>
          </a:prstGeom>
          <a:solidFill>
            <a:srgbClr val="77E1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5504688"/>
            <a:ext cx="3438144" cy="365760"/>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152C3B"/>
                </a:solidFill>
                <a:latin typeface="Arial"/>
              </a:rPr>
              <a:t>On my way.</a:t>
            </a:r>
          </a:p>
        </p:txBody>
      </p:sp>
      <p:sp>
        <p:nvSpPr>
          <p:cNvPr id="20" name="Rounded Rectangle 19"/>
          <p:cNvSpPr/>
          <p:nvPr/>
        </p:nvSpPr>
        <p:spPr>
          <a:xfrm>
            <a:off x="1014984" y="6336792"/>
            <a:ext cx="7342631" cy="402336"/>
          </a:xfrm>
          <a:prstGeom prst="roundRect">
            <a:avLst>
              <a:gd name="adj" fmla="val 27272"/>
            </a:avLst>
          </a:prstGeom>
          <a:solidFill>
            <a:srgbClr val="101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61288" y="6437376"/>
            <a:ext cx="7050024" cy="265176"/>
          </a:xfrm>
          <a:prstGeom prst="rect">
            <a:avLst/>
          </a:prstGeom>
          <a:noFill/>
        </p:spPr>
        <p:txBody>
          <a:bodyPr wrap="square" lIns="0" rIns="0" tIns="0" bIns="0">
            <a:spAutoFit/>
          </a:bodyPr>
          <a:lstStyle/>
          <a:p>
            <a:pPr algn="l">
              <a:lnSpc>
                <a:spcPct val="112000"/>
              </a:lnSpc>
              <a:spcBef>
                <a:spcPts val="0"/>
              </a:spcBef>
              <a:spcAft>
                <a:spcPts val="0"/>
              </a:spcAft>
            </a:pPr>
            <a:r>
              <a:rPr sz="1512" b="0">
                <a:solidFill>
                  <a:srgbClr val="B6C6CF"/>
                </a:solidFill>
                <a:latin typeface="Arial"/>
              </a:rPr>
              <a:t>Quick requests     |     Contacts     |     Message history</a:t>
            </a:r>
          </a:p>
        </p:txBody>
      </p:sp>
      <p:sp>
        <p:nvSpPr>
          <p:cNvPr id="22" name="TextBox 21"/>
          <p:cNvSpPr txBox="1"/>
          <p:nvPr/>
        </p:nvSpPr>
        <p:spPr>
          <a:xfrm>
            <a:off x="9089136" y="3520440"/>
            <a:ext cx="4791456" cy="356616"/>
          </a:xfrm>
          <a:prstGeom prst="rect">
            <a:avLst/>
          </a:prstGeom>
          <a:noFill/>
        </p:spPr>
        <p:txBody>
          <a:bodyPr wrap="square" lIns="0" rIns="0" tIns="0" bIns="0">
            <a:spAutoFit/>
          </a:bodyPr>
          <a:lstStyle/>
          <a:p>
            <a:pPr algn="l">
              <a:lnSpc>
                <a:spcPct val="112000"/>
              </a:lnSpc>
              <a:spcBef>
                <a:spcPts val="0"/>
              </a:spcBef>
              <a:spcAft>
                <a:spcPts val="0"/>
              </a:spcAft>
            </a:pPr>
            <a:r>
              <a:rPr sz="1655" b="1">
                <a:solidFill>
                  <a:srgbClr val="77E1CB"/>
                </a:solidFill>
                <a:latin typeface="Arial"/>
              </a:rPr>
              <a:t>OUR OWN AI/ML MODEL</a:t>
            </a:r>
          </a:p>
        </p:txBody>
      </p:sp>
      <p:sp>
        <p:nvSpPr>
          <p:cNvPr id="23" name="TextBox 22"/>
          <p:cNvSpPr txBox="1"/>
          <p:nvPr/>
        </p:nvSpPr>
        <p:spPr>
          <a:xfrm>
            <a:off x="9089136" y="3959352"/>
            <a:ext cx="4791456" cy="621792"/>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FFFFFF"/>
                </a:solidFill>
                <a:latin typeface="Arial"/>
              </a:rPr>
              <a:t>Custom recognition + user calibration</a:t>
            </a:r>
          </a:p>
        </p:txBody>
      </p:sp>
      <p:sp>
        <p:nvSpPr>
          <p:cNvPr id="24" name="TextBox 23"/>
          <p:cNvSpPr txBox="1"/>
          <p:nvPr/>
        </p:nvSpPr>
        <p:spPr>
          <a:xfrm>
            <a:off x="9089136" y="4727448"/>
            <a:ext cx="4791456" cy="356616"/>
          </a:xfrm>
          <a:prstGeom prst="rect">
            <a:avLst/>
          </a:prstGeom>
          <a:noFill/>
        </p:spPr>
        <p:txBody>
          <a:bodyPr wrap="square" lIns="0" rIns="0" tIns="0" bIns="0">
            <a:spAutoFit/>
          </a:bodyPr>
          <a:lstStyle/>
          <a:p>
            <a:pPr algn="l">
              <a:lnSpc>
                <a:spcPct val="112000"/>
              </a:lnSpc>
              <a:spcBef>
                <a:spcPts val="0"/>
              </a:spcBef>
              <a:spcAft>
                <a:spcPts val="0"/>
              </a:spcAft>
            </a:pPr>
            <a:r>
              <a:rPr sz="1655" b="1">
                <a:solidFill>
                  <a:srgbClr val="FFB17B"/>
                </a:solidFill>
                <a:latin typeface="Arial"/>
              </a:rPr>
              <a:t>ACCESSIBLE CONVERSATIONS</a:t>
            </a:r>
          </a:p>
        </p:txBody>
      </p:sp>
      <p:sp>
        <p:nvSpPr>
          <p:cNvPr id="25" name="TextBox 24"/>
          <p:cNvSpPr txBox="1"/>
          <p:nvPr/>
        </p:nvSpPr>
        <p:spPr>
          <a:xfrm>
            <a:off x="9089136" y="5166360"/>
            <a:ext cx="4791456" cy="621792"/>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FFFFFF"/>
                </a:solidFill>
                <a:latin typeface="Arial"/>
              </a:rPr>
              <a:t>Text, tactile and planned avatar / speech</a:t>
            </a:r>
          </a:p>
        </p:txBody>
      </p:sp>
      <p:sp>
        <p:nvSpPr>
          <p:cNvPr id="26" name="TextBox 25"/>
          <p:cNvSpPr txBox="1"/>
          <p:nvPr/>
        </p:nvSpPr>
        <p:spPr>
          <a:xfrm>
            <a:off x="9089136" y="5934456"/>
            <a:ext cx="4791456" cy="356616"/>
          </a:xfrm>
          <a:prstGeom prst="rect">
            <a:avLst/>
          </a:prstGeom>
          <a:noFill/>
        </p:spPr>
        <p:txBody>
          <a:bodyPr wrap="square" lIns="0" rIns="0" tIns="0" bIns="0">
            <a:spAutoFit/>
          </a:bodyPr>
          <a:lstStyle/>
          <a:p>
            <a:pPr algn="l">
              <a:lnSpc>
                <a:spcPct val="112000"/>
              </a:lnSpc>
              <a:spcBef>
                <a:spcPts val="0"/>
              </a:spcBef>
              <a:spcAft>
                <a:spcPts val="0"/>
              </a:spcAft>
            </a:pPr>
            <a:r>
              <a:rPr sz="1655" b="1">
                <a:solidFill>
                  <a:srgbClr val="C9B9FF"/>
                </a:solidFill>
                <a:latin typeface="Arial"/>
              </a:rPr>
              <a:t>A CONNECTED WORKSPACE</a:t>
            </a:r>
          </a:p>
        </p:txBody>
      </p:sp>
      <p:sp>
        <p:nvSpPr>
          <p:cNvPr id="27" name="TextBox 26"/>
          <p:cNvSpPr txBox="1"/>
          <p:nvPr/>
        </p:nvSpPr>
        <p:spPr>
          <a:xfrm>
            <a:off x="9089136" y="6373368"/>
            <a:ext cx="4791456" cy="621792"/>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FFFFFF"/>
                </a:solidFill>
                <a:latin typeface="Arial"/>
              </a:rPr>
              <a:t>Contacts, device status and quick requests</a:t>
            </a:r>
          </a:p>
        </p:txBody>
      </p:sp>
      <p:sp>
        <p:nvSpPr>
          <p:cNvPr id="28" name="TextBox 27"/>
          <p:cNvSpPr txBox="1"/>
          <p:nvPr/>
        </p:nvSpPr>
        <p:spPr>
          <a:xfrm>
            <a:off x="749808" y="711403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368" b="0">
                <a:solidFill>
                  <a:srgbClr val="B6C6CF"/>
                </a:solidFill>
                <a:latin typeface="Arial"/>
              </a:rPr>
              <a:t>Next: train the model, integrate chat, and validate recognition + delivery with users.</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B6C6CF"/>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B6C6CF"/>
                </a:solidFill>
                <a:latin typeface="Arial"/>
              </a:rPr>
              <a:t>12 / CLOSING</a:t>
            </a:r>
          </a:p>
        </p:txBody>
      </p:sp>
      <p:cxnSp>
        <p:nvCxnSpPr>
          <p:cNvPr id="4" name="Connector 3"/>
          <p:cNvCxnSpPr/>
          <p:nvPr/>
        </p:nvCxnSpPr>
        <p:spPr>
          <a:xfrm>
            <a:off x="694944" y="7443216"/>
            <a:ext cx="13240512" cy="0"/>
          </a:xfrm>
          <a:prstGeom prst="line">
            <a:avLst/>
          </a:prstGeom>
          <a:ln w="9144">
            <a:solidFill>
              <a:srgbClr val="3446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B6C6CF"/>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B6C6CF"/>
                </a:solidFill>
                <a:latin typeface="Arial"/>
              </a:rPr>
              <a:t>12</a:t>
            </a:r>
          </a:p>
        </p:txBody>
      </p:sp>
      <p:sp>
        <p:nvSpPr>
          <p:cNvPr id="7" name="TextBox 6"/>
          <p:cNvSpPr txBox="1"/>
          <p:nvPr/>
        </p:nvSpPr>
        <p:spPr>
          <a:xfrm>
            <a:off x="731520" y="1289304"/>
            <a:ext cx="11430000" cy="338328"/>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77E1CB"/>
                </a:solidFill>
                <a:latin typeface="Arial"/>
              </a:rPr>
              <a:t>PROJECT ABILITY</a:t>
            </a:r>
          </a:p>
        </p:txBody>
      </p:sp>
      <p:sp>
        <p:nvSpPr>
          <p:cNvPr id="8" name="TextBox 7"/>
          <p:cNvSpPr txBox="1"/>
          <p:nvPr/>
        </p:nvSpPr>
        <p:spPr>
          <a:xfrm>
            <a:off x="667512" y="2212848"/>
            <a:ext cx="13075920" cy="2148840"/>
          </a:xfrm>
          <a:prstGeom prst="rect">
            <a:avLst/>
          </a:prstGeom>
          <a:noFill/>
        </p:spPr>
        <p:txBody>
          <a:bodyPr wrap="square" lIns="0" rIns="0" tIns="0" bIns="0">
            <a:spAutoFit/>
          </a:bodyPr>
          <a:lstStyle/>
          <a:p>
            <a:pPr algn="l">
              <a:lnSpc>
                <a:spcPct val="112000"/>
              </a:lnSpc>
              <a:spcBef>
                <a:spcPts val="0"/>
              </a:spcBef>
              <a:spcAft>
                <a:spcPts val="0"/>
              </a:spcAft>
            </a:pPr>
            <a:r>
              <a:rPr sz="6264" b="1">
                <a:solidFill>
                  <a:srgbClr val="FFFFFF"/>
                </a:solidFill>
                <a:latin typeface="Arial"/>
              </a:rPr>
              <a:t>Different abilities.</a:t>
            </a:r>
          </a:p>
          <a:p>
            <a:pPr algn="l">
              <a:lnSpc>
                <a:spcPct val="112000"/>
              </a:lnSpc>
              <a:spcBef>
                <a:spcPts val="0"/>
              </a:spcBef>
              <a:spcAft>
                <a:spcPts val="0"/>
              </a:spcAft>
            </a:pPr>
            <a:r>
              <a:rPr sz="6264" b="1">
                <a:solidFill>
                  <a:srgbClr val="FFFFFF"/>
                </a:solidFill>
                <a:latin typeface="Arial"/>
              </a:rPr>
              <a:t>Shared possibilities.</a:t>
            </a:r>
          </a:p>
        </p:txBody>
      </p:sp>
      <p:sp>
        <p:nvSpPr>
          <p:cNvPr id="9" name="TextBox 8"/>
          <p:cNvSpPr txBox="1"/>
          <p:nvPr/>
        </p:nvSpPr>
        <p:spPr>
          <a:xfrm>
            <a:off x="740664" y="5193792"/>
            <a:ext cx="11978640" cy="795528"/>
          </a:xfrm>
          <a:prstGeom prst="rect">
            <a:avLst/>
          </a:prstGeom>
          <a:noFill/>
        </p:spPr>
        <p:txBody>
          <a:bodyPr wrap="square" lIns="0" rIns="0" tIns="0" bIns="0">
            <a:spAutoFit/>
          </a:bodyPr>
          <a:lstStyle/>
          <a:p>
            <a:pPr algn="l">
              <a:lnSpc>
                <a:spcPct val="112000"/>
              </a:lnSpc>
              <a:spcBef>
                <a:spcPts val="0"/>
              </a:spcBef>
              <a:spcAft>
                <a:spcPts val="0"/>
              </a:spcAft>
            </a:pPr>
            <a:r>
              <a:rPr sz="2592" b="0">
                <a:solidFill>
                  <a:srgbClr val="B6C6CF"/>
                </a:solidFill>
                <a:latin typeface="Arial"/>
              </a:rPr>
              <a:t>Start with a message.</a:t>
            </a:r>
          </a:p>
          <a:p>
            <a:pPr algn="l">
              <a:lnSpc>
                <a:spcPct val="112000"/>
              </a:lnSpc>
              <a:spcBef>
                <a:spcPts val="0"/>
              </a:spcBef>
              <a:spcAft>
                <a:spcPts val="0"/>
              </a:spcAft>
            </a:pPr>
            <a:r>
              <a:rPr sz="2592" b="0">
                <a:solidFill>
                  <a:srgbClr val="B6C6CF"/>
                </a:solidFill>
                <a:latin typeface="Arial"/>
              </a:rPr>
              <a:t>Build toward more independence.</a:t>
            </a:r>
          </a:p>
        </p:txBody>
      </p:sp>
      <p:sp>
        <p:nvSpPr>
          <p:cNvPr id="10" name="Rounded Rectangle 9"/>
          <p:cNvSpPr/>
          <p:nvPr/>
        </p:nvSpPr>
        <p:spPr>
          <a:xfrm>
            <a:off x="758952" y="6519672"/>
            <a:ext cx="2542032" cy="365760"/>
          </a:xfrm>
          <a:prstGeom prst="roundRect">
            <a:avLst>
              <a:gd name="adj" fmla="val 47500"/>
            </a:avLst>
          </a:prstGeom>
          <a:noFill/>
          <a:ln w="18288">
            <a:solidFill>
              <a:srgbClr val="77E1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6601968"/>
            <a:ext cx="2322576" cy="237744"/>
          </a:xfrm>
          <a:prstGeom prst="rect">
            <a:avLst/>
          </a:prstGeom>
          <a:noFill/>
        </p:spPr>
        <p:txBody>
          <a:bodyPr wrap="square" lIns="0" rIns="0" tIns="0" bIns="0">
            <a:spAutoFit/>
          </a:bodyPr>
          <a:lstStyle/>
          <a:p>
            <a:pPr algn="ctr">
              <a:lnSpc>
                <a:spcPct val="112000"/>
              </a:lnSpc>
              <a:spcBef>
                <a:spcPts val="0"/>
              </a:spcBef>
              <a:spcAft>
                <a:spcPts val="0"/>
              </a:spcAft>
            </a:pPr>
            <a:r>
              <a:rPr sz="1152" b="1">
                <a:solidFill>
                  <a:srgbClr val="77E1CB"/>
                </a:solidFill>
                <a:latin typeface="Arial"/>
              </a:rPr>
              <a:t>MODULAR</a:t>
            </a:r>
          </a:p>
        </p:txBody>
      </p:sp>
      <p:sp>
        <p:nvSpPr>
          <p:cNvPr id="12" name="Rounded Rectangle 11"/>
          <p:cNvSpPr/>
          <p:nvPr/>
        </p:nvSpPr>
        <p:spPr>
          <a:xfrm>
            <a:off x="3712463" y="6519672"/>
            <a:ext cx="2542032" cy="365760"/>
          </a:xfrm>
          <a:prstGeom prst="roundRect">
            <a:avLst>
              <a:gd name="adj" fmla="val 47500"/>
            </a:avLst>
          </a:prstGeom>
          <a:noFill/>
          <a:ln w="18288">
            <a:solidFill>
              <a:srgbClr val="FFB1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22191" y="6601968"/>
            <a:ext cx="2322576" cy="237744"/>
          </a:xfrm>
          <a:prstGeom prst="rect">
            <a:avLst/>
          </a:prstGeom>
          <a:noFill/>
        </p:spPr>
        <p:txBody>
          <a:bodyPr wrap="square" lIns="0" rIns="0" tIns="0" bIns="0">
            <a:spAutoFit/>
          </a:bodyPr>
          <a:lstStyle/>
          <a:p>
            <a:pPr algn="ctr">
              <a:lnSpc>
                <a:spcPct val="112000"/>
              </a:lnSpc>
              <a:spcBef>
                <a:spcPts val="0"/>
              </a:spcBef>
              <a:spcAft>
                <a:spcPts val="0"/>
              </a:spcAft>
            </a:pPr>
            <a:r>
              <a:rPr sz="1152" b="1">
                <a:solidFill>
                  <a:srgbClr val="FFB17B"/>
                </a:solidFill>
                <a:latin typeface="Arial"/>
              </a:rPr>
              <a:t>AFFORDABLE</a:t>
            </a:r>
          </a:p>
        </p:txBody>
      </p:sp>
      <p:sp>
        <p:nvSpPr>
          <p:cNvPr id="14" name="Rounded Rectangle 13"/>
          <p:cNvSpPr/>
          <p:nvPr/>
        </p:nvSpPr>
        <p:spPr>
          <a:xfrm>
            <a:off x="6665976" y="6519672"/>
            <a:ext cx="2542032" cy="365760"/>
          </a:xfrm>
          <a:prstGeom prst="roundRect">
            <a:avLst>
              <a:gd name="adj" fmla="val 47500"/>
            </a:avLst>
          </a:prstGeom>
          <a:noFill/>
          <a:ln w="18288">
            <a:solidFill>
              <a:srgbClr val="C9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75704" y="6601968"/>
            <a:ext cx="2322576" cy="237744"/>
          </a:xfrm>
          <a:prstGeom prst="rect">
            <a:avLst/>
          </a:prstGeom>
          <a:noFill/>
        </p:spPr>
        <p:txBody>
          <a:bodyPr wrap="square" lIns="0" rIns="0" tIns="0" bIns="0">
            <a:spAutoFit/>
          </a:bodyPr>
          <a:lstStyle/>
          <a:p>
            <a:pPr algn="ctr">
              <a:lnSpc>
                <a:spcPct val="112000"/>
              </a:lnSpc>
              <a:spcBef>
                <a:spcPts val="0"/>
              </a:spcBef>
              <a:spcAft>
                <a:spcPts val="0"/>
              </a:spcAft>
            </a:pPr>
            <a:r>
              <a:rPr sz="1152" b="1">
                <a:solidFill>
                  <a:srgbClr val="C9B9FF"/>
                </a:solidFill>
                <a:latin typeface="Arial"/>
              </a:rPr>
              <a:t>CONNECTED</a:t>
            </a:r>
          </a:p>
        </p:txBody>
      </p:sp>
      <p:sp>
        <p:nvSpPr>
          <p:cNvPr id="16" name="TextBox 15"/>
          <p:cNvSpPr txBox="1"/>
          <p:nvPr/>
        </p:nvSpPr>
        <p:spPr>
          <a:xfrm>
            <a:off x="11320272" y="6565392"/>
            <a:ext cx="2542032" cy="365760"/>
          </a:xfrm>
          <a:prstGeom prst="rect">
            <a:avLst/>
          </a:prstGeom>
          <a:noFill/>
        </p:spPr>
        <p:txBody>
          <a:bodyPr wrap="square" lIns="0" rIns="0" tIns="0" bIns="0">
            <a:spAutoFit/>
          </a:bodyPr>
          <a:lstStyle/>
          <a:p>
            <a:pPr algn="r">
              <a:lnSpc>
                <a:spcPct val="112000"/>
              </a:lnSpc>
              <a:spcBef>
                <a:spcPts val="0"/>
              </a:spcBef>
              <a:spcAft>
                <a:spcPts val="0"/>
              </a:spcAft>
            </a:pPr>
            <a:r>
              <a:rPr sz="2232" b="1">
                <a:solidFill>
                  <a:srgbClr val="FFFFFF"/>
                </a:solidFill>
                <a:latin typeface="Arial"/>
              </a:rPr>
              <a:t>Thank you.</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526775"/>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526775"/>
                </a:solidFill>
                <a:latin typeface="Arial"/>
              </a:rPr>
              <a:t>APPENDIX A / BDT BUDGET</a:t>
            </a:r>
          </a:p>
        </p:txBody>
      </p:sp>
      <p:cxnSp>
        <p:nvCxnSpPr>
          <p:cNvPr id="4" name="Connector 3"/>
          <p:cNvCxnSpPr/>
          <p:nvPr/>
        </p:nvCxnSpPr>
        <p:spPr>
          <a:xfrm>
            <a:off x="694944" y="7443216"/>
            <a:ext cx="13240512" cy="0"/>
          </a:xfrm>
          <a:prstGeom prst="line">
            <a:avLst/>
          </a:prstGeom>
          <a:ln w="9144">
            <a:solidFill>
              <a:srgbClr val="D7DD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26775"/>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26775"/>
                </a:solidFill>
                <a:latin typeface="Arial"/>
              </a:rPr>
              <a:t>13</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526775"/>
                </a:solidFill>
                <a:latin typeface="Arial"/>
              </a:rPr>
              <a:t>BACKUP / COMPONENT COST TARGETS IN BDT</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152C3B"/>
                </a:solidFill>
                <a:latin typeface="Arial"/>
              </a:rPr>
              <a:t>Core build: ৳23,000 target.</a:t>
            </a:r>
          </a:p>
        </p:txBody>
      </p:sp>
      <p:sp>
        <p:nvSpPr>
          <p:cNvPr id="9" name="TextBox 8"/>
          <p:cNvSpPr txBox="1"/>
          <p:nvPr/>
        </p:nvSpPr>
        <p:spPr>
          <a:xfrm>
            <a:off x="731520" y="2816352"/>
            <a:ext cx="4425696" cy="320040"/>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26775"/>
                </a:solidFill>
                <a:latin typeface="Arial"/>
              </a:rPr>
              <a:t>COMPONENT</a:t>
            </a:r>
          </a:p>
        </p:txBody>
      </p:sp>
      <p:sp>
        <p:nvSpPr>
          <p:cNvPr id="10" name="TextBox 9"/>
          <p:cNvSpPr txBox="1"/>
          <p:nvPr/>
        </p:nvSpPr>
        <p:spPr>
          <a:xfrm>
            <a:off x="5221224" y="2816352"/>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368" b="1">
                <a:solidFill>
                  <a:srgbClr val="526775"/>
                </a:solidFill>
                <a:latin typeface="Arial"/>
              </a:rPr>
              <a:t>QTY</a:t>
            </a:r>
          </a:p>
        </p:txBody>
      </p:sp>
      <p:sp>
        <p:nvSpPr>
          <p:cNvPr id="11" name="TextBox 10"/>
          <p:cNvSpPr txBox="1"/>
          <p:nvPr/>
        </p:nvSpPr>
        <p:spPr>
          <a:xfrm>
            <a:off x="5907024" y="2816352"/>
            <a:ext cx="1033271" cy="320040"/>
          </a:xfrm>
          <a:prstGeom prst="rect">
            <a:avLst/>
          </a:prstGeom>
          <a:noFill/>
        </p:spPr>
        <p:txBody>
          <a:bodyPr wrap="square" lIns="0" rIns="0" tIns="0" bIns="0">
            <a:spAutoFit/>
          </a:bodyPr>
          <a:lstStyle/>
          <a:p>
            <a:pPr algn="r">
              <a:lnSpc>
                <a:spcPct val="112000"/>
              </a:lnSpc>
              <a:spcBef>
                <a:spcPts val="0"/>
              </a:spcBef>
              <a:spcAft>
                <a:spcPts val="0"/>
              </a:spcAft>
            </a:pPr>
            <a:r>
              <a:rPr sz="1368" b="1">
                <a:solidFill>
                  <a:srgbClr val="526775"/>
                </a:solidFill>
                <a:latin typeface="Arial"/>
              </a:rPr>
              <a:t>BDT</a:t>
            </a:r>
          </a:p>
        </p:txBody>
      </p:sp>
      <p:sp>
        <p:nvSpPr>
          <p:cNvPr id="12" name="TextBox 11"/>
          <p:cNvSpPr txBox="1"/>
          <p:nvPr/>
        </p:nvSpPr>
        <p:spPr>
          <a:xfrm>
            <a:off x="731520" y="3264408"/>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Raspberry Pi 5: 2GB / reused target</a:t>
            </a:r>
          </a:p>
        </p:txBody>
      </p:sp>
      <p:sp>
        <p:nvSpPr>
          <p:cNvPr id="13" name="TextBox 12"/>
          <p:cNvSpPr txBox="1"/>
          <p:nvPr/>
        </p:nvSpPr>
        <p:spPr>
          <a:xfrm>
            <a:off x="5221224" y="3264408"/>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14" name="TextBox 13"/>
          <p:cNvSpPr txBox="1"/>
          <p:nvPr/>
        </p:nvSpPr>
        <p:spPr>
          <a:xfrm>
            <a:off x="5833872" y="3264408"/>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12,000</a:t>
            </a:r>
          </a:p>
        </p:txBody>
      </p:sp>
      <p:sp>
        <p:nvSpPr>
          <p:cNvPr id="15" name="TextBox 14"/>
          <p:cNvSpPr txBox="1"/>
          <p:nvPr/>
        </p:nvSpPr>
        <p:spPr>
          <a:xfrm>
            <a:off x="731520" y="3657600"/>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USB-C power supply</a:t>
            </a:r>
          </a:p>
        </p:txBody>
      </p:sp>
      <p:sp>
        <p:nvSpPr>
          <p:cNvPr id="16" name="TextBox 15"/>
          <p:cNvSpPr txBox="1"/>
          <p:nvPr/>
        </p:nvSpPr>
        <p:spPr>
          <a:xfrm>
            <a:off x="5221224" y="3657600"/>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17" name="TextBox 16"/>
          <p:cNvSpPr txBox="1"/>
          <p:nvPr/>
        </p:nvSpPr>
        <p:spPr>
          <a:xfrm>
            <a:off x="5833872" y="3657600"/>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1,500</a:t>
            </a:r>
          </a:p>
        </p:txBody>
      </p:sp>
      <p:sp>
        <p:nvSpPr>
          <p:cNvPr id="18" name="TextBox 17"/>
          <p:cNvSpPr txBox="1"/>
          <p:nvPr/>
        </p:nvSpPr>
        <p:spPr>
          <a:xfrm>
            <a:off x="731520" y="4050791"/>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Active cooler</a:t>
            </a:r>
          </a:p>
        </p:txBody>
      </p:sp>
      <p:sp>
        <p:nvSpPr>
          <p:cNvPr id="19" name="TextBox 18"/>
          <p:cNvSpPr txBox="1"/>
          <p:nvPr/>
        </p:nvSpPr>
        <p:spPr>
          <a:xfrm>
            <a:off x="5221224" y="4050791"/>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20" name="TextBox 19"/>
          <p:cNvSpPr txBox="1"/>
          <p:nvPr/>
        </p:nvSpPr>
        <p:spPr>
          <a:xfrm>
            <a:off x="5833872" y="4050791"/>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500</a:t>
            </a:r>
          </a:p>
        </p:txBody>
      </p:sp>
      <p:sp>
        <p:nvSpPr>
          <p:cNvPr id="21" name="TextBox 20"/>
          <p:cNvSpPr txBox="1"/>
          <p:nvPr/>
        </p:nvSpPr>
        <p:spPr>
          <a:xfrm>
            <a:off x="731520" y="4443984"/>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microSD storage</a:t>
            </a:r>
          </a:p>
        </p:txBody>
      </p:sp>
      <p:sp>
        <p:nvSpPr>
          <p:cNvPr id="22" name="TextBox 21"/>
          <p:cNvSpPr txBox="1"/>
          <p:nvPr/>
        </p:nvSpPr>
        <p:spPr>
          <a:xfrm>
            <a:off x="5221224" y="4443984"/>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23" name="TextBox 22"/>
          <p:cNvSpPr txBox="1"/>
          <p:nvPr/>
        </p:nvSpPr>
        <p:spPr>
          <a:xfrm>
            <a:off x="5833872" y="4443984"/>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600</a:t>
            </a:r>
          </a:p>
        </p:txBody>
      </p:sp>
      <p:sp>
        <p:nvSpPr>
          <p:cNvPr id="24" name="TextBox 23"/>
          <p:cNvSpPr txBox="1"/>
          <p:nvPr/>
        </p:nvSpPr>
        <p:spPr>
          <a:xfrm>
            <a:off x="731520" y="4837176"/>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Case</a:t>
            </a:r>
          </a:p>
        </p:txBody>
      </p:sp>
      <p:sp>
        <p:nvSpPr>
          <p:cNvPr id="25" name="TextBox 24"/>
          <p:cNvSpPr txBox="1"/>
          <p:nvPr/>
        </p:nvSpPr>
        <p:spPr>
          <a:xfrm>
            <a:off x="5221224" y="4837176"/>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26" name="TextBox 25"/>
          <p:cNvSpPr txBox="1"/>
          <p:nvPr/>
        </p:nvSpPr>
        <p:spPr>
          <a:xfrm>
            <a:off x="5833872" y="4837176"/>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400</a:t>
            </a:r>
          </a:p>
        </p:txBody>
      </p:sp>
      <p:sp>
        <p:nvSpPr>
          <p:cNvPr id="27" name="TextBox 26"/>
          <p:cNvSpPr txBox="1"/>
          <p:nvPr/>
        </p:nvSpPr>
        <p:spPr>
          <a:xfrm>
            <a:off x="731520" y="5230368"/>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ESP32-S3</a:t>
            </a:r>
          </a:p>
        </p:txBody>
      </p:sp>
      <p:sp>
        <p:nvSpPr>
          <p:cNvPr id="28" name="TextBox 27"/>
          <p:cNvSpPr txBox="1"/>
          <p:nvPr/>
        </p:nvSpPr>
        <p:spPr>
          <a:xfrm>
            <a:off x="5221224" y="5230368"/>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29" name="TextBox 28"/>
          <p:cNvSpPr txBox="1"/>
          <p:nvPr/>
        </p:nvSpPr>
        <p:spPr>
          <a:xfrm>
            <a:off x="5833872" y="5230368"/>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650</a:t>
            </a:r>
          </a:p>
        </p:txBody>
      </p:sp>
      <p:sp>
        <p:nvSpPr>
          <p:cNvPr id="30" name="TextBox 29"/>
          <p:cNvSpPr txBox="1"/>
          <p:nvPr/>
        </p:nvSpPr>
        <p:spPr>
          <a:xfrm>
            <a:off x="731520" y="5623560"/>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Flex sensors: economy target</a:t>
            </a:r>
          </a:p>
        </p:txBody>
      </p:sp>
      <p:sp>
        <p:nvSpPr>
          <p:cNvPr id="31" name="TextBox 30"/>
          <p:cNvSpPr txBox="1"/>
          <p:nvPr/>
        </p:nvSpPr>
        <p:spPr>
          <a:xfrm>
            <a:off x="5221224" y="5623560"/>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5</a:t>
            </a:r>
          </a:p>
        </p:txBody>
      </p:sp>
      <p:sp>
        <p:nvSpPr>
          <p:cNvPr id="32" name="TextBox 31"/>
          <p:cNvSpPr txBox="1"/>
          <p:nvPr/>
        </p:nvSpPr>
        <p:spPr>
          <a:xfrm>
            <a:off x="5833872" y="5623560"/>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1,250</a:t>
            </a:r>
          </a:p>
        </p:txBody>
      </p:sp>
      <p:sp>
        <p:nvSpPr>
          <p:cNvPr id="33" name="TextBox 32"/>
          <p:cNvSpPr txBox="1"/>
          <p:nvPr/>
        </p:nvSpPr>
        <p:spPr>
          <a:xfrm>
            <a:off x="731520" y="6016752"/>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BNO055: sourcing target</a:t>
            </a:r>
          </a:p>
        </p:txBody>
      </p:sp>
      <p:sp>
        <p:nvSpPr>
          <p:cNvPr id="34" name="TextBox 33"/>
          <p:cNvSpPr txBox="1"/>
          <p:nvPr/>
        </p:nvSpPr>
        <p:spPr>
          <a:xfrm>
            <a:off x="5221224" y="6016752"/>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35" name="TextBox 34"/>
          <p:cNvSpPr txBox="1"/>
          <p:nvPr/>
        </p:nvSpPr>
        <p:spPr>
          <a:xfrm>
            <a:off x="5833872" y="6016752"/>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1,900</a:t>
            </a:r>
          </a:p>
        </p:txBody>
      </p:sp>
      <p:sp>
        <p:nvSpPr>
          <p:cNvPr id="36" name="TextBox 35"/>
          <p:cNvSpPr txBox="1"/>
          <p:nvPr/>
        </p:nvSpPr>
        <p:spPr>
          <a:xfrm>
            <a:off x="7498079" y="2816352"/>
            <a:ext cx="4425696" cy="320040"/>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26775"/>
                </a:solidFill>
                <a:latin typeface="Arial"/>
              </a:rPr>
              <a:t>COMPONENT</a:t>
            </a:r>
          </a:p>
        </p:txBody>
      </p:sp>
      <p:sp>
        <p:nvSpPr>
          <p:cNvPr id="37" name="TextBox 36"/>
          <p:cNvSpPr txBox="1"/>
          <p:nvPr/>
        </p:nvSpPr>
        <p:spPr>
          <a:xfrm>
            <a:off x="11987784" y="2816352"/>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368" b="1">
                <a:solidFill>
                  <a:srgbClr val="526775"/>
                </a:solidFill>
                <a:latin typeface="Arial"/>
              </a:rPr>
              <a:t>QTY</a:t>
            </a:r>
          </a:p>
        </p:txBody>
      </p:sp>
      <p:sp>
        <p:nvSpPr>
          <p:cNvPr id="38" name="TextBox 37"/>
          <p:cNvSpPr txBox="1"/>
          <p:nvPr/>
        </p:nvSpPr>
        <p:spPr>
          <a:xfrm>
            <a:off x="12673584" y="2816352"/>
            <a:ext cx="1033271" cy="320040"/>
          </a:xfrm>
          <a:prstGeom prst="rect">
            <a:avLst/>
          </a:prstGeom>
          <a:noFill/>
        </p:spPr>
        <p:txBody>
          <a:bodyPr wrap="square" lIns="0" rIns="0" tIns="0" bIns="0">
            <a:spAutoFit/>
          </a:bodyPr>
          <a:lstStyle/>
          <a:p>
            <a:pPr algn="r">
              <a:lnSpc>
                <a:spcPct val="112000"/>
              </a:lnSpc>
              <a:spcBef>
                <a:spcPts val="0"/>
              </a:spcBef>
              <a:spcAft>
                <a:spcPts val="0"/>
              </a:spcAft>
            </a:pPr>
            <a:r>
              <a:rPr sz="1368" b="1">
                <a:solidFill>
                  <a:srgbClr val="526775"/>
                </a:solidFill>
                <a:latin typeface="Arial"/>
              </a:rPr>
              <a:t>BDT</a:t>
            </a:r>
          </a:p>
        </p:txBody>
      </p:sp>
      <p:sp>
        <p:nvSpPr>
          <p:cNvPr id="39" name="TextBox 38"/>
          <p:cNvSpPr txBox="1"/>
          <p:nvPr/>
        </p:nvSpPr>
        <p:spPr>
          <a:xfrm>
            <a:off x="7498079" y="3264408"/>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Glove + wiring / resistors</a:t>
            </a:r>
          </a:p>
        </p:txBody>
      </p:sp>
      <p:sp>
        <p:nvSpPr>
          <p:cNvPr id="40" name="TextBox 39"/>
          <p:cNvSpPr txBox="1"/>
          <p:nvPr/>
        </p:nvSpPr>
        <p:spPr>
          <a:xfrm>
            <a:off x="11987784" y="3264408"/>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41" name="TextBox 40"/>
          <p:cNvSpPr txBox="1"/>
          <p:nvPr/>
        </p:nvSpPr>
        <p:spPr>
          <a:xfrm>
            <a:off x="12600432" y="3264408"/>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400</a:t>
            </a:r>
          </a:p>
        </p:txBody>
      </p:sp>
      <p:sp>
        <p:nvSpPr>
          <p:cNvPr id="42" name="TextBox 41"/>
          <p:cNvSpPr txBox="1"/>
          <p:nvPr/>
        </p:nvSpPr>
        <p:spPr>
          <a:xfrm>
            <a:off x="7498079" y="3657600"/>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Power allowance</a:t>
            </a:r>
          </a:p>
        </p:txBody>
      </p:sp>
      <p:sp>
        <p:nvSpPr>
          <p:cNvPr id="43" name="TextBox 42"/>
          <p:cNvSpPr txBox="1"/>
          <p:nvPr/>
        </p:nvSpPr>
        <p:spPr>
          <a:xfrm>
            <a:off x="11987784" y="3657600"/>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44" name="TextBox 43"/>
          <p:cNvSpPr txBox="1"/>
          <p:nvPr/>
        </p:nvSpPr>
        <p:spPr>
          <a:xfrm>
            <a:off x="12600432" y="3657600"/>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300</a:t>
            </a:r>
          </a:p>
        </p:txBody>
      </p:sp>
      <p:sp>
        <p:nvSpPr>
          <p:cNvPr id="45" name="TextBox 44"/>
          <p:cNvSpPr txBox="1"/>
          <p:nvPr/>
        </p:nvSpPr>
        <p:spPr>
          <a:xfrm>
            <a:off x="7498079" y="4050791"/>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ESP32-S3</a:t>
            </a:r>
          </a:p>
        </p:txBody>
      </p:sp>
      <p:sp>
        <p:nvSpPr>
          <p:cNvPr id="46" name="TextBox 45"/>
          <p:cNvSpPr txBox="1"/>
          <p:nvPr/>
        </p:nvSpPr>
        <p:spPr>
          <a:xfrm>
            <a:off x="11987784" y="4050791"/>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47" name="TextBox 46"/>
          <p:cNvSpPr txBox="1"/>
          <p:nvPr/>
        </p:nvSpPr>
        <p:spPr>
          <a:xfrm>
            <a:off x="12600432" y="4050791"/>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650</a:t>
            </a:r>
          </a:p>
        </p:txBody>
      </p:sp>
      <p:sp>
        <p:nvSpPr>
          <p:cNvPr id="48" name="TextBox 47"/>
          <p:cNvSpPr txBox="1"/>
          <p:nvPr/>
        </p:nvSpPr>
        <p:spPr>
          <a:xfrm>
            <a:off x="7498079" y="4443984"/>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MG90S servos</a:t>
            </a:r>
          </a:p>
        </p:txBody>
      </p:sp>
      <p:sp>
        <p:nvSpPr>
          <p:cNvPr id="49" name="TextBox 48"/>
          <p:cNvSpPr txBox="1"/>
          <p:nvPr/>
        </p:nvSpPr>
        <p:spPr>
          <a:xfrm>
            <a:off x="11987784" y="4443984"/>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8</a:t>
            </a:r>
          </a:p>
        </p:txBody>
      </p:sp>
      <p:sp>
        <p:nvSpPr>
          <p:cNvPr id="50" name="TextBox 49"/>
          <p:cNvSpPr txBox="1"/>
          <p:nvPr/>
        </p:nvSpPr>
        <p:spPr>
          <a:xfrm>
            <a:off x="12600432" y="4443984"/>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1,600</a:t>
            </a:r>
          </a:p>
        </p:txBody>
      </p:sp>
      <p:sp>
        <p:nvSpPr>
          <p:cNvPr id="51" name="TextBox 50"/>
          <p:cNvSpPr txBox="1"/>
          <p:nvPr/>
        </p:nvSpPr>
        <p:spPr>
          <a:xfrm>
            <a:off x="7498079" y="4837176"/>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Cams / pins / housing</a:t>
            </a:r>
          </a:p>
        </p:txBody>
      </p:sp>
      <p:sp>
        <p:nvSpPr>
          <p:cNvPr id="52" name="TextBox 51"/>
          <p:cNvSpPr txBox="1"/>
          <p:nvPr/>
        </p:nvSpPr>
        <p:spPr>
          <a:xfrm>
            <a:off x="11987784" y="4837176"/>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53" name="TextBox 52"/>
          <p:cNvSpPr txBox="1"/>
          <p:nvPr/>
        </p:nvSpPr>
        <p:spPr>
          <a:xfrm>
            <a:off x="12600432" y="4837176"/>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600</a:t>
            </a:r>
          </a:p>
        </p:txBody>
      </p:sp>
      <p:sp>
        <p:nvSpPr>
          <p:cNvPr id="54" name="TextBox 53"/>
          <p:cNvSpPr txBox="1"/>
          <p:nvPr/>
        </p:nvSpPr>
        <p:spPr>
          <a:xfrm>
            <a:off x="7498079" y="5230368"/>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Tactile buttons</a:t>
            </a:r>
          </a:p>
        </p:txBody>
      </p:sp>
      <p:sp>
        <p:nvSpPr>
          <p:cNvPr id="55" name="TextBox 54"/>
          <p:cNvSpPr txBox="1"/>
          <p:nvPr/>
        </p:nvSpPr>
        <p:spPr>
          <a:xfrm>
            <a:off x="11987784" y="5230368"/>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7</a:t>
            </a:r>
          </a:p>
        </p:txBody>
      </p:sp>
      <p:sp>
        <p:nvSpPr>
          <p:cNvPr id="56" name="TextBox 55"/>
          <p:cNvSpPr txBox="1"/>
          <p:nvPr/>
        </p:nvSpPr>
        <p:spPr>
          <a:xfrm>
            <a:off x="12600432" y="5230368"/>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70</a:t>
            </a:r>
          </a:p>
        </p:txBody>
      </p:sp>
      <p:sp>
        <p:nvSpPr>
          <p:cNvPr id="57" name="TextBox 56"/>
          <p:cNvSpPr txBox="1"/>
          <p:nvPr/>
        </p:nvSpPr>
        <p:spPr>
          <a:xfrm>
            <a:off x="7498079" y="5623560"/>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Regulated 5V supply</a:t>
            </a:r>
          </a:p>
        </p:txBody>
      </p:sp>
      <p:sp>
        <p:nvSpPr>
          <p:cNvPr id="58" name="TextBox 57"/>
          <p:cNvSpPr txBox="1"/>
          <p:nvPr/>
        </p:nvSpPr>
        <p:spPr>
          <a:xfrm>
            <a:off x="11987784" y="5623560"/>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59" name="TextBox 58"/>
          <p:cNvSpPr txBox="1"/>
          <p:nvPr/>
        </p:nvSpPr>
        <p:spPr>
          <a:xfrm>
            <a:off x="12600432" y="5623560"/>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400</a:t>
            </a:r>
          </a:p>
        </p:txBody>
      </p:sp>
      <p:sp>
        <p:nvSpPr>
          <p:cNvPr id="60" name="TextBox 59"/>
          <p:cNvSpPr txBox="1"/>
          <p:nvPr/>
        </p:nvSpPr>
        <p:spPr>
          <a:xfrm>
            <a:off x="7498079" y="6016752"/>
            <a:ext cx="4480560" cy="320040"/>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152C3B"/>
                </a:solidFill>
                <a:latin typeface="Arial"/>
              </a:rPr>
              <a:t>Cables / connectors</a:t>
            </a:r>
          </a:p>
        </p:txBody>
      </p:sp>
      <p:sp>
        <p:nvSpPr>
          <p:cNvPr id="61" name="TextBox 60"/>
          <p:cNvSpPr txBox="1"/>
          <p:nvPr/>
        </p:nvSpPr>
        <p:spPr>
          <a:xfrm>
            <a:off x="11987784" y="6016752"/>
            <a:ext cx="548640" cy="320040"/>
          </a:xfrm>
          <a:prstGeom prst="rect">
            <a:avLst/>
          </a:prstGeom>
          <a:noFill/>
        </p:spPr>
        <p:txBody>
          <a:bodyPr wrap="square" lIns="0" rIns="0" tIns="0" bIns="0">
            <a:spAutoFit/>
          </a:bodyPr>
          <a:lstStyle/>
          <a:p>
            <a:pPr algn="ctr">
              <a:lnSpc>
                <a:spcPct val="112000"/>
              </a:lnSpc>
              <a:spcBef>
                <a:spcPts val="0"/>
              </a:spcBef>
              <a:spcAft>
                <a:spcPts val="0"/>
              </a:spcAft>
            </a:pPr>
            <a:r>
              <a:rPr sz="1584" b="0">
                <a:solidFill>
                  <a:srgbClr val="526775"/>
                </a:solidFill>
                <a:latin typeface="Arial"/>
              </a:rPr>
              <a:t>1</a:t>
            </a:r>
          </a:p>
        </p:txBody>
      </p:sp>
      <p:sp>
        <p:nvSpPr>
          <p:cNvPr id="62" name="TextBox 61"/>
          <p:cNvSpPr txBox="1"/>
          <p:nvPr/>
        </p:nvSpPr>
        <p:spPr>
          <a:xfrm>
            <a:off x="12600432" y="6016752"/>
            <a:ext cx="1106424" cy="320040"/>
          </a:xfrm>
          <a:prstGeom prst="rect">
            <a:avLst/>
          </a:prstGeom>
          <a:noFill/>
        </p:spPr>
        <p:txBody>
          <a:bodyPr wrap="square" lIns="0" rIns="0" tIns="0" bIns="0">
            <a:spAutoFit/>
          </a:bodyPr>
          <a:lstStyle/>
          <a:p>
            <a:pPr algn="r">
              <a:lnSpc>
                <a:spcPct val="112000"/>
              </a:lnSpc>
              <a:spcBef>
                <a:spcPts val="0"/>
              </a:spcBef>
              <a:spcAft>
                <a:spcPts val="0"/>
              </a:spcAft>
            </a:pPr>
            <a:r>
              <a:rPr sz="1584" b="0">
                <a:solidFill>
                  <a:srgbClr val="152C3B"/>
                </a:solidFill>
                <a:latin typeface="Arial"/>
              </a:rPr>
              <a:t>180</a:t>
            </a:r>
          </a:p>
        </p:txBody>
      </p:sp>
      <p:sp>
        <p:nvSpPr>
          <p:cNvPr id="63" name="Rounded Rectangle 62"/>
          <p:cNvSpPr/>
          <p:nvPr/>
        </p:nvSpPr>
        <p:spPr>
          <a:xfrm>
            <a:off x="731520" y="6519672"/>
            <a:ext cx="13167360" cy="612648"/>
          </a:xfrm>
          <a:prstGeom prst="roundRect">
            <a:avLst>
              <a:gd name="adj" fmla="val 17910"/>
            </a:avLst>
          </a:prstGeom>
          <a:solidFill>
            <a:srgbClr val="15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0120" y="6656832"/>
            <a:ext cx="12710160" cy="356616"/>
          </a:xfrm>
          <a:prstGeom prst="rect">
            <a:avLst/>
          </a:prstGeom>
          <a:noFill/>
        </p:spPr>
        <p:txBody>
          <a:bodyPr wrap="square" lIns="0" rIns="0" tIns="0" bIns="0">
            <a:spAutoFit/>
          </a:bodyPr>
          <a:lstStyle/>
          <a:p>
            <a:pPr algn="ctr">
              <a:lnSpc>
                <a:spcPct val="112000"/>
              </a:lnSpc>
              <a:spcBef>
                <a:spcPts val="0"/>
              </a:spcBef>
              <a:spcAft>
                <a:spcPts val="0"/>
              </a:spcAft>
            </a:pPr>
            <a:r>
              <a:rPr sz="2088" b="1">
                <a:solidFill>
                  <a:srgbClr val="FFFFFF"/>
                </a:solidFill>
                <a:latin typeface="Arial"/>
              </a:rPr>
              <a:t>GLOVE ৳4,500     +     BRAILLE ৳3,500     +     SHARED HUB ৳15,000</a:t>
            </a:r>
          </a:p>
        </p:txBody>
      </p:sp>
      <p:sp>
        <p:nvSpPr>
          <p:cNvPr id="65" name="TextBox 64"/>
          <p:cNvSpPr txBox="1"/>
          <p:nvPr/>
        </p:nvSpPr>
        <p:spPr>
          <a:xfrm>
            <a:off x="758952" y="7187184"/>
            <a:ext cx="13075920" cy="210312"/>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26775"/>
                </a:solidFill>
                <a:latin typeface="Arial"/>
              </a:rPr>
              <a:t>Voice + gaze: ৳5,000 extra. Optional wheelchair control: ৳12,000 excluding EEG + chair. Full breakdown: budget.csv</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E2B"/>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B6C6CF"/>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B6C6CF"/>
                </a:solidFill>
                <a:latin typeface="Arial"/>
              </a:rPr>
              <a:t>APPENDIX B / CLAIMS</a:t>
            </a:r>
          </a:p>
        </p:txBody>
      </p:sp>
      <p:cxnSp>
        <p:nvCxnSpPr>
          <p:cNvPr id="4" name="Connector 3"/>
          <p:cNvCxnSpPr/>
          <p:nvPr/>
        </p:nvCxnSpPr>
        <p:spPr>
          <a:xfrm>
            <a:off x="694944" y="7443216"/>
            <a:ext cx="13240512" cy="0"/>
          </a:xfrm>
          <a:prstGeom prst="line">
            <a:avLst/>
          </a:prstGeom>
          <a:ln w="9144">
            <a:solidFill>
              <a:srgbClr val="3446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B6C6CF"/>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B6C6CF"/>
                </a:solidFill>
                <a:latin typeface="Arial"/>
              </a:rPr>
              <a:t>14</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77E1CB"/>
                </a:solidFill>
                <a:latin typeface="Arial"/>
              </a:rPr>
              <a:t>BACKUP / JUDGE QUESTIONS</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FFFFFF"/>
                </a:solidFill>
                <a:latin typeface="Arial"/>
              </a:rPr>
              <a:t>What the evidence supports</a:t>
            </a:r>
          </a:p>
        </p:txBody>
      </p:sp>
      <p:sp>
        <p:nvSpPr>
          <p:cNvPr id="9" name="TextBox 8"/>
          <p:cNvSpPr txBox="1"/>
          <p:nvPr/>
        </p:nvSpPr>
        <p:spPr>
          <a:xfrm>
            <a:off x="731520" y="3108960"/>
            <a:ext cx="3392424" cy="41148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77E1CB"/>
                </a:solidFill>
                <a:latin typeface="Arial"/>
              </a:rPr>
              <a:t>SOURCE PRESENT</a:t>
            </a:r>
          </a:p>
        </p:txBody>
      </p:sp>
      <p:sp>
        <p:nvSpPr>
          <p:cNvPr id="10" name="TextBox 9"/>
          <p:cNvSpPr txBox="1"/>
          <p:nvPr/>
        </p:nvSpPr>
        <p:spPr>
          <a:xfrm>
            <a:off x="4370832" y="3108960"/>
            <a:ext cx="9509760" cy="539496"/>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FFFFFF"/>
                </a:solidFill>
                <a:latin typeface="Arial"/>
              </a:rPr>
              <a:t>Glove rules, MQTT routing, 4-cell actuation, button input</a:t>
            </a:r>
          </a:p>
        </p:txBody>
      </p:sp>
      <p:sp>
        <p:nvSpPr>
          <p:cNvPr id="11" name="TextBox 10"/>
          <p:cNvSpPr txBox="1"/>
          <p:nvPr/>
        </p:nvSpPr>
        <p:spPr>
          <a:xfrm>
            <a:off x="731520" y="3886200"/>
            <a:ext cx="3392424" cy="41148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FFB17B"/>
                </a:solidFill>
                <a:latin typeface="Arial"/>
              </a:rPr>
              <a:t>PARTIAL INTEGRATION</a:t>
            </a:r>
          </a:p>
        </p:txBody>
      </p:sp>
      <p:sp>
        <p:nvSpPr>
          <p:cNvPr id="12" name="TextBox 11"/>
          <p:cNvSpPr txBox="1"/>
          <p:nvPr/>
        </p:nvSpPr>
        <p:spPr>
          <a:xfrm>
            <a:off x="4370832" y="3886200"/>
            <a:ext cx="9509760" cy="539496"/>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FFFFFF"/>
                </a:solidFill>
                <a:latin typeface="Arial"/>
              </a:rPr>
              <a:t>Braille keys display locally; avatar return route remains</a:t>
            </a:r>
          </a:p>
        </p:txBody>
      </p:sp>
      <p:sp>
        <p:nvSpPr>
          <p:cNvPr id="13" name="TextBox 12"/>
          <p:cNvSpPr txBox="1"/>
          <p:nvPr/>
        </p:nvSpPr>
        <p:spPr>
          <a:xfrm>
            <a:off x="731520" y="4663440"/>
            <a:ext cx="3392424" cy="41148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C9B9FF"/>
                </a:solidFill>
                <a:latin typeface="Arial"/>
              </a:rPr>
              <a:t>PLANNED</a:t>
            </a:r>
          </a:p>
        </p:txBody>
      </p:sp>
      <p:sp>
        <p:nvSpPr>
          <p:cNvPr id="14" name="TextBox 13"/>
          <p:cNvSpPr txBox="1"/>
          <p:nvPr/>
        </p:nvSpPr>
        <p:spPr>
          <a:xfrm>
            <a:off x="4370832" y="4663440"/>
            <a:ext cx="9509760" cy="539496"/>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FFFFFF"/>
                </a:solidFill>
                <a:latin typeface="Arial"/>
              </a:rPr>
              <a:t>Custom ML, chat UI, gaze, avatar / speech, EEG wheelchair</a:t>
            </a:r>
          </a:p>
        </p:txBody>
      </p:sp>
      <p:sp>
        <p:nvSpPr>
          <p:cNvPr id="15" name="TextBox 14"/>
          <p:cNvSpPr txBox="1"/>
          <p:nvPr/>
        </p:nvSpPr>
        <p:spPr>
          <a:xfrm>
            <a:off x="731520" y="5440680"/>
            <a:ext cx="3392424" cy="41148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77E1CB"/>
                </a:solidFill>
                <a:latin typeface="Arial"/>
              </a:rPr>
              <a:t>MEASURE NEXT</a:t>
            </a:r>
          </a:p>
        </p:txBody>
      </p:sp>
      <p:sp>
        <p:nvSpPr>
          <p:cNvPr id="16" name="TextBox 15"/>
          <p:cNvSpPr txBox="1"/>
          <p:nvPr/>
        </p:nvSpPr>
        <p:spPr>
          <a:xfrm>
            <a:off x="4370832" y="5440680"/>
            <a:ext cx="9509760" cy="539496"/>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FFFFFF"/>
                </a:solidFill>
                <a:latin typeface="Arial"/>
              </a:rPr>
              <a:t>Gesture macro-F1, false triggers, tactile correctness, delay</a:t>
            </a:r>
          </a:p>
        </p:txBody>
      </p:sp>
      <p:sp>
        <p:nvSpPr>
          <p:cNvPr id="17" name="TextBox 16"/>
          <p:cNvSpPr txBox="1"/>
          <p:nvPr/>
        </p:nvSpPr>
        <p:spPr>
          <a:xfrm>
            <a:off x="731520" y="6217920"/>
            <a:ext cx="3392424" cy="41148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FFB17B"/>
                </a:solidFill>
                <a:latin typeface="Arial"/>
              </a:rPr>
              <a:t>NOVELTY POSITION</a:t>
            </a:r>
          </a:p>
        </p:txBody>
      </p:sp>
      <p:sp>
        <p:nvSpPr>
          <p:cNvPr id="18" name="TextBox 17"/>
          <p:cNvSpPr txBox="1"/>
          <p:nvPr/>
        </p:nvSpPr>
        <p:spPr>
          <a:xfrm>
            <a:off x="4370832" y="6217920"/>
            <a:ext cx="9509760" cy="539496"/>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FFFFFF"/>
                </a:solidFill>
                <a:latin typeface="Arial"/>
              </a:rPr>
              <a:t>An affordable modular integration; no world-first claim</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2EA"/>
        </a:solidFill>
        <a:effectLst/>
      </p:bgPr>
    </p:bg>
    <p:spTree>
      <p:nvGrpSpPr>
        <p:cNvPr id="1" name=""/>
        <p:cNvGrpSpPr/>
        <p:nvPr/>
      </p:nvGrpSpPr>
      <p:grpSpPr/>
      <p:sp>
        <p:nvSpPr>
          <p:cNvPr id="2" name="TextBox 1"/>
          <p:cNvSpPr txBox="1"/>
          <p:nvPr/>
        </p:nvSpPr>
        <p:spPr>
          <a:xfrm>
            <a:off x="694944" y="393192"/>
            <a:ext cx="5029200" cy="256032"/>
          </a:xfrm>
          <a:prstGeom prst="rect">
            <a:avLst/>
          </a:prstGeom>
          <a:noFill/>
        </p:spPr>
        <p:txBody>
          <a:bodyPr wrap="square" lIns="0" rIns="0" tIns="0" bIns="0">
            <a:spAutoFit/>
          </a:bodyPr>
          <a:lstStyle/>
          <a:p>
            <a:pPr algn="l">
              <a:lnSpc>
                <a:spcPct val="112000"/>
              </a:lnSpc>
              <a:spcBef>
                <a:spcPts val="0"/>
              </a:spcBef>
              <a:spcAft>
                <a:spcPts val="0"/>
              </a:spcAft>
            </a:pPr>
            <a:r>
              <a:rPr sz="1296" b="1">
                <a:solidFill>
                  <a:srgbClr val="526775"/>
                </a:solidFill>
                <a:latin typeface="Arial"/>
              </a:rPr>
              <a:t>ABILITY / PROJECT SHOW</a:t>
            </a:r>
          </a:p>
        </p:txBody>
      </p:sp>
      <p:sp>
        <p:nvSpPr>
          <p:cNvPr id="3" name="TextBox 2"/>
          <p:cNvSpPr txBox="1"/>
          <p:nvPr/>
        </p:nvSpPr>
        <p:spPr>
          <a:xfrm>
            <a:off x="9509760" y="393192"/>
            <a:ext cx="4389120" cy="256032"/>
          </a:xfrm>
          <a:prstGeom prst="rect">
            <a:avLst/>
          </a:prstGeom>
          <a:noFill/>
        </p:spPr>
        <p:txBody>
          <a:bodyPr wrap="square" lIns="0" rIns="0" tIns="0" bIns="0">
            <a:spAutoFit/>
          </a:bodyPr>
          <a:lstStyle/>
          <a:p>
            <a:pPr algn="r">
              <a:lnSpc>
                <a:spcPct val="112000"/>
              </a:lnSpc>
              <a:spcBef>
                <a:spcPts val="0"/>
              </a:spcBef>
              <a:spcAft>
                <a:spcPts val="0"/>
              </a:spcAft>
            </a:pPr>
            <a:r>
              <a:rPr sz="1224" b="0">
                <a:solidFill>
                  <a:srgbClr val="526775"/>
                </a:solidFill>
                <a:latin typeface="Arial"/>
              </a:rPr>
              <a:t>APPENDIX C / SOURCES</a:t>
            </a:r>
          </a:p>
        </p:txBody>
      </p:sp>
      <p:cxnSp>
        <p:nvCxnSpPr>
          <p:cNvPr id="4" name="Connector 3"/>
          <p:cNvCxnSpPr/>
          <p:nvPr/>
        </p:nvCxnSpPr>
        <p:spPr>
          <a:xfrm>
            <a:off x="694944" y="7443216"/>
            <a:ext cx="13240512" cy="0"/>
          </a:xfrm>
          <a:prstGeom prst="line">
            <a:avLst/>
          </a:prstGeom>
          <a:ln w="9144">
            <a:solidFill>
              <a:srgbClr val="D7DD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4944" y="7635240"/>
            <a:ext cx="113385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26775"/>
                </a:solidFill>
                <a:latin typeface="Arial"/>
              </a:rPr>
              <a:t>PROJECT ABILITY  /  Different ways to communicate. One connection.</a:t>
            </a:r>
          </a:p>
        </p:txBody>
      </p:sp>
      <p:sp>
        <p:nvSpPr>
          <p:cNvPr id="6" name="TextBox 5"/>
          <p:cNvSpPr txBox="1"/>
          <p:nvPr/>
        </p:nvSpPr>
        <p:spPr>
          <a:xfrm>
            <a:off x="13075920" y="7635240"/>
            <a:ext cx="822960" cy="219456"/>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26775"/>
                </a:solidFill>
                <a:latin typeface="Arial"/>
              </a:rPr>
              <a:t>15</a:t>
            </a:r>
          </a:p>
        </p:txBody>
      </p:sp>
      <p:sp>
        <p:nvSpPr>
          <p:cNvPr id="7" name="TextBox 6"/>
          <p:cNvSpPr txBox="1"/>
          <p:nvPr/>
        </p:nvSpPr>
        <p:spPr>
          <a:xfrm>
            <a:off x="713232" y="1078992"/>
            <a:ext cx="13075920" cy="256032"/>
          </a:xfrm>
          <a:prstGeom prst="rect">
            <a:avLst/>
          </a:prstGeom>
          <a:noFill/>
        </p:spPr>
        <p:txBody>
          <a:bodyPr wrap="square" lIns="0" rIns="0" tIns="0" bIns="0">
            <a:spAutoFit/>
          </a:bodyPr>
          <a:lstStyle/>
          <a:p>
            <a:pPr algn="l">
              <a:lnSpc>
                <a:spcPct val="112000"/>
              </a:lnSpc>
              <a:spcBef>
                <a:spcPts val="0"/>
              </a:spcBef>
              <a:spcAft>
                <a:spcPts val="0"/>
              </a:spcAft>
            </a:pPr>
            <a:r>
              <a:rPr sz="1439" b="1">
                <a:solidFill>
                  <a:srgbClr val="526775"/>
                </a:solidFill>
                <a:latin typeface="Arial"/>
              </a:rPr>
              <a:t>BACKUP / CLICKABLE REFERENCES</a:t>
            </a:r>
          </a:p>
        </p:txBody>
      </p:sp>
      <p:sp>
        <p:nvSpPr>
          <p:cNvPr id="8" name="TextBox 7"/>
          <p:cNvSpPr txBox="1"/>
          <p:nvPr/>
        </p:nvSpPr>
        <p:spPr>
          <a:xfrm>
            <a:off x="694944" y="1508760"/>
            <a:ext cx="13258800" cy="1335024"/>
          </a:xfrm>
          <a:prstGeom prst="rect">
            <a:avLst/>
          </a:prstGeom>
          <a:noFill/>
        </p:spPr>
        <p:txBody>
          <a:bodyPr wrap="square" lIns="0" rIns="0" tIns="0" bIns="0">
            <a:spAutoFit/>
          </a:bodyPr>
          <a:lstStyle/>
          <a:p>
            <a:pPr algn="l">
              <a:lnSpc>
                <a:spcPct val="112000"/>
              </a:lnSpc>
              <a:spcBef>
                <a:spcPts val="0"/>
              </a:spcBef>
              <a:spcAft>
                <a:spcPts val="0"/>
              </a:spcAft>
            </a:pPr>
            <a:r>
              <a:rPr sz="4608" b="1">
                <a:solidFill>
                  <a:srgbClr val="152C3B"/>
                </a:solidFill>
                <a:latin typeface="Arial"/>
              </a:rPr>
              <a:t>Sources &amp; presentation scope</a:t>
            </a:r>
          </a:p>
        </p:txBody>
      </p:sp>
      <p:sp>
        <p:nvSpPr>
          <p:cNvPr id="9" name="TextBox 8"/>
          <p:cNvSpPr txBox="1"/>
          <p:nvPr/>
        </p:nvSpPr>
        <p:spPr>
          <a:xfrm>
            <a:off x="749808" y="2825496"/>
            <a:ext cx="12801600" cy="393192"/>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152C3B"/>
                </a:solidFill>
                <a:latin typeface="Arial"/>
                <a:hlinkClick r:id="rId2"/>
              </a:rPr>
              <a:t>01   Rokoko Smartgloves II · ≈ ৳2.45 lakh · professional pair</a:t>
            </a:r>
          </a:p>
        </p:txBody>
      </p:sp>
      <p:sp>
        <p:nvSpPr>
          <p:cNvPr id="10" name="TextBox 9"/>
          <p:cNvSpPr txBox="1"/>
          <p:nvPr/>
        </p:nvSpPr>
        <p:spPr>
          <a:xfrm>
            <a:off x="749808" y="3337560"/>
            <a:ext cx="12801600" cy="393192"/>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152C3B"/>
                </a:solidFill>
                <a:latin typeface="Arial"/>
                <a:hlinkClick r:id="rId3"/>
              </a:rPr>
              <a:t>02   HumanWare Brailliant BI 40X · ≈ ৳4.62 lakh · 40 cells</a:t>
            </a:r>
          </a:p>
        </p:txBody>
      </p:sp>
      <p:sp>
        <p:nvSpPr>
          <p:cNvPr id="11" name="TextBox 10"/>
          <p:cNvSpPr txBox="1"/>
          <p:nvPr/>
        </p:nvSpPr>
        <p:spPr>
          <a:xfrm>
            <a:off x="749808" y="3849624"/>
            <a:ext cx="12801600" cy="393192"/>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152C3B"/>
                </a:solidFill>
                <a:latin typeface="Arial"/>
                <a:hlinkClick r:id="rId4"/>
              </a:rPr>
              <a:t>03   Bangladesh Bank · rounded presentation rate: USD 1 ≈ ৳123</a:t>
            </a:r>
          </a:p>
        </p:txBody>
      </p:sp>
      <p:sp>
        <p:nvSpPr>
          <p:cNvPr id="12" name="TextBox 11"/>
          <p:cNvSpPr txBox="1"/>
          <p:nvPr/>
        </p:nvSpPr>
        <p:spPr>
          <a:xfrm>
            <a:off x="749808" y="4361688"/>
            <a:ext cx="12801600" cy="393192"/>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152C3B"/>
                </a:solidFill>
                <a:latin typeface="Arial"/>
                <a:hlinkClick r:id="rId5"/>
              </a:rPr>
              <a:t>04   Orbit Reader 20 · ≈ ৳98,300 · lower-price market reference</a:t>
            </a:r>
          </a:p>
        </p:txBody>
      </p:sp>
      <p:sp>
        <p:nvSpPr>
          <p:cNvPr id="13" name="TextBox 12"/>
          <p:cNvSpPr txBox="1"/>
          <p:nvPr/>
        </p:nvSpPr>
        <p:spPr>
          <a:xfrm>
            <a:off x="749808" y="4873752"/>
            <a:ext cx="12801600" cy="393192"/>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152C3B"/>
                </a:solidFill>
                <a:latin typeface="Arial"/>
                <a:hlinkClick r:id="rId6"/>
              </a:rPr>
              <a:t>05   OpenBCI Cyton · ≈ ৳1.54 lakh · EEG board alone</a:t>
            </a:r>
          </a:p>
        </p:txBody>
      </p:sp>
      <p:sp>
        <p:nvSpPr>
          <p:cNvPr id="14" name="TextBox 13"/>
          <p:cNvSpPr txBox="1"/>
          <p:nvPr/>
        </p:nvSpPr>
        <p:spPr>
          <a:xfrm>
            <a:off x="749808" y="5385816"/>
            <a:ext cx="12801600" cy="393192"/>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152C3B"/>
                </a:solidFill>
                <a:latin typeface="Arial"/>
                <a:hlinkClick r:id="rId7"/>
              </a:rPr>
              <a:t>06   Prior EEG/EOG wheelchair research · 2014</a:t>
            </a:r>
          </a:p>
        </p:txBody>
      </p:sp>
      <p:sp>
        <p:nvSpPr>
          <p:cNvPr id="15" name="TextBox 14"/>
          <p:cNvSpPr txBox="1"/>
          <p:nvPr/>
        </p:nvSpPr>
        <p:spPr>
          <a:xfrm>
            <a:off x="749808" y="5897880"/>
            <a:ext cx="12801600" cy="393192"/>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152C3B"/>
                </a:solidFill>
                <a:latin typeface="Arial"/>
                <a:hlinkClick r:id="rId8"/>
              </a:rPr>
              <a:t>07   Parkinson’s Foundation · vision and eye movement changes</a:t>
            </a:r>
          </a:p>
        </p:txBody>
      </p:sp>
      <p:sp>
        <p:nvSpPr>
          <p:cNvPr id="16" name="TextBox 15"/>
          <p:cNvSpPr txBox="1"/>
          <p:nvPr/>
        </p:nvSpPr>
        <p:spPr>
          <a:xfrm>
            <a:off x="749808" y="6693408"/>
            <a:ext cx="12984480" cy="539496"/>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526775"/>
                </a:solidFill>
                <a:latin typeface="Arial"/>
              </a:rPr>
              <a:t>Checked 30 Sep 2026 · Static code review, not a hardware trial.</a:t>
            </a:r>
          </a:p>
          <a:p>
            <a:pPr algn="l">
              <a:lnSpc>
                <a:spcPct val="112000"/>
              </a:lnSpc>
              <a:spcBef>
                <a:spcPts val="0"/>
              </a:spcBef>
              <a:spcAft>
                <a:spcPts val="0"/>
              </a:spcAft>
            </a:pPr>
            <a:r>
              <a:rPr sz="1584" b="0">
                <a:solidFill>
                  <a:srgbClr val="526775"/>
                </a:solidFill>
                <a:latin typeface="Arial"/>
              </a:rPr>
              <a:t>Concept illustrations are original diagrams, not photographs of built hardware.</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Ability — Different ways to communicate. One connection.</dc:title>
  <dc:subject>Project show: current prototype, budget and proposed EEG / gaze wheelchair extension</dc:subject>
  <dc:creator>Project Ability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